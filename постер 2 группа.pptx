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6" r:id="rId2"/>
  </p:sldIdLst>
  <p:sldSz cx="15113000" cy="213741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42"/>
    <p:restoredTop sz="94657"/>
  </p:normalViewPr>
  <p:slideViewPr>
    <p:cSldViewPr snapToGrid="0">
      <p:cViewPr>
        <p:scale>
          <a:sx n="37" d="100"/>
          <a:sy n="37" d="100"/>
        </p:scale>
        <p:origin x="3136" y="43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216150" y="685800"/>
            <a:ext cx="24257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3"/>
          <p:cNvSpPr/>
          <p:nvPr/>
        </p:nvSpPr>
        <p:spPr>
          <a:xfrm>
            <a:off x="195802" y="583246"/>
            <a:ext cx="14401800" cy="20615400"/>
          </a:xfrm>
          <a:prstGeom prst="roundRect">
            <a:avLst>
              <a:gd name="adj" fmla="val 16667"/>
            </a:avLst>
          </a:prstGeom>
          <a:solidFill>
            <a:schemeClr val="lt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85" name="Google Shape;85;p13"/>
          <p:cNvGrpSpPr/>
          <p:nvPr/>
        </p:nvGrpSpPr>
        <p:grpSpPr>
          <a:xfrm>
            <a:off x="851546" y="2814710"/>
            <a:ext cx="6435220" cy="1305505"/>
            <a:chOff x="0" y="-28575"/>
            <a:chExt cx="1236805" cy="250909"/>
          </a:xfrm>
        </p:grpSpPr>
        <p:sp>
          <p:nvSpPr>
            <p:cNvPr id="86" name="Google Shape;86;p13"/>
            <p:cNvSpPr/>
            <p:nvPr/>
          </p:nvSpPr>
          <p:spPr>
            <a:xfrm>
              <a:off x="0" y="0"/>
              <a:ext cx="1236805" cy="222334"/>
            </a:xfrm>
            <a:custGeom>
              <a:avLst/>
              <a:gdLst/>
              <a:ahLst/>
              <a:cxnLst/>
              <a:rect l="l" t="t" r="r" b="b"/>
              <a:pathLst>
                <a:path w="1236805" h="222334" extrusionOk="0">
                  <a:moveTo>
                    <a:pt x="0" y="0"/>
                  </a:moveTo>
                  <a:lnTo>
                    <a:pt x="1236805" y="0"/>
                  </a:lnTo>
                  <a:lnTo>
                    <a:pt x="1236805" y="222334"/>
                  </a:lnTo>
                  <a:lnTo>
                    <a:pt x="0" y="222334"/>
                  </a:lnTo>
                  <a:close/>
                </a:path>
              </a:pathLst>
            </a:custGeom>
            <a:solidFill>
              <a:srgbClr val="FFFFFF"/>
            </a:solidFill>
            <a:ln>
              <a:noFill/>
            </a:ln>
          </p:spPr>
        </p:sp>
        <p:sp>
          <p:nvSpPr>
            <p:cNvPr id="87" name="Google Shape;87;p13"/>
            <p:cNvSpPr txBox="1"/>
            <p:nvPr/>
          </p:nvSpPr>
          <p:spPr>
            <a:xfrm>
              <a:off x="0" y="-28575"/>
              <a:ext cx="1236805" cy="250909"/>
            </a:xfrm>
            <a:prstGeom prst="rect">
              <a:avLst/>
            </a:prstGeom>
            <a:noFill/>
            <a:ln>
              <a:noFill/>
            </a:ln>
          </p:spPr>
          <p:txBody>
            <a:bodyPr spcFirstLastPara="1" wrap="square" lIns="23325" tIns="23325" rIns="23325" bIns="23325" anchor="ctr" anchorCtr="0">
              <a:noAutofit/>
            </a:bodyPr>
            <a:lstStyle/>
            <a:p>
              <a:pPr marL="0" marR="0" lvl="0" indent="0" algn="l"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8" name="Google Shape;88;p13"/>
          <p:cNvSpPr txBox="1"/>
          <p:nvPr/>
        </p:nvSpPr>
        <p:spPr>
          <a:xfrm>
            <a:off x="1076128" y="3055118"/>
            <a:ext cx="2862900" cy="323700"/>
          </a:xfrm>
          <a:prstGeom prst="rect">
            <a:avLst/>
          </a:prstGeom>
          <a:noFill/>
          <a:ln>
            <a:noFill/>
          </a:ln>
        </p:spPr>
        <p:txBody>
          <a:bodyPr spcFirstLastPara="1" wrap="square" lIns="0" tIns="0" rIns="0" bIns="0" anchor="t" anchorCtr="0">
            <a:spAutoFit/>
          </a:bodyPr>
          <a:lstStyle/>
          <a:p>
            <a:pPr marL="0" marR="0" lvl="0" indent="0" algn="l" rtl="0">
              <a:lnSpc>
                <a:spcPct val="139968"/>
              </a:lnSpc>
              <a:spcBef>
                <a:spcPts val="0"/>
              </a:spcBef>
              <a:spcAft>
                <a:spcPts val="0"/>
              </a:spcAft>
              <a:buNone/>
            </a:pPr>
            <a:r>
              <a:rPr lang="en-US" sz="1929" b="1" i="0" u="sng" strike="noStrike" cap="none">
                <a:solidFill>
                  <a:srgbClr val="000000"/>
                </a:solidFill>
                <a:latin typeface="Arial"/>
                <a:ea typeface="Arial"/>
                <a:cs typeface="Arial"/>
                <a:sym typeface="Arial"/>
              </a:rPr>
              <a:t>Authors:</a:t>
            </a:r>
            <a:endParaRPr sz="1929" b="1" i="0" u="sng" strike="noStrike" cap="none">
              <a:solidFill>
                <a:srgbClr val="000000"/>
              </a:solidFill>
              <a:latin typeface="Arial"/>
              <a:ea typeface="Arial"/>
              <a:cs typeface="Arial"/>
              <a:sym typeface="Arial"/>
            </a:endParaRPr>
          </a:p>
        </p:txBody>
      </p:sp>
      <p:grpSp>
        <p:nvGrpSpPr>
          <p:cNvPr id="89" name="Google Shape;89;p13"/>
          <p:cNvGrpSpPr/>
          <p:nvPr/>
        </p:nvGrpSpPr>
        <p:grpSpPr>
          <a:xfrm>
            <a:off x="7969827" y="2814710"/>
            <a:ext cx="6329930" cy="1305505"/>
            <a:chOff x="0" y="-28575"/>
            <a:chExt cx="1216569" cy="250909"/>
          </a:xfrm>
        </p:grpSpPr>
        <p:sp>
          <p:nvSpPr>
            <p:cNvPr id="90" name="Google Shape;90;p13"/>
            <p:cNvSpPr/>
            <p:nvPr/>
          </p:nvSpPr>
          <p:spPr>
            <a:xfrm>
              <a:off x="0" y="0"/>
              <a:ext cx="1216569" cy="222334"/>
            </a:xfrm>
            <a:custGeom>
              <a:avLst/>
              <a:gdLst/>
              <a:ahLst/>
              <a:cxnLst/>
              <a:rect l="l" t="t" r="r" b="b"/>
              <a:pathLst>
                <a:path w="1216569" h="222334" extrusionOk="0">
                  <a:moveTo>
                    <a:pt x="0" y="0"/>
                  </a:moveTo>
                  <a:lnTo>
                    <a:pt x="1216569" y="0"/>
                  </a:lnTo>
                  <a:lnTo>
                    <a:pt x="1216569" y="222334"/>
                  </a:lnTo>
                  <a:lnTo>
                    <a:pt x="0" y="222334"/>
                  </a:lnTo>
                  <a:close/>
                </a:path>
              </a:pathLst>
            </a:custGeom>
            <a:solidFill>
              <a:srgbClr val="FFFFFF"/>
            </a:solidFill>
            <a:ln>
              <a:noFill/>
            </a:ln>
          </p:spPr>
        </p:sp>
        <p:sp>
          <p:nvSpPr>
            <p:cNvPr id="91" name="Google Shape;91;p13"/>
            <p:cNvSpPr txBox="1"/>
            <p:nvPr/>
          </p:nvSpPr>
          <p:spPr>
            <a:xfrm>
              <a:off x="0" y="-28575"/>
              <a:ext cx="1216569" cy="250909"/>
            </a:xfrm>
            <a:prstGeom prst="rect">
              <a:avLst/>
            </a:prstGeom>
            <a:noFill/>
            <a:ln>
              <a:noFill/>
            </a:ln>
          </p:spPr>
          <p:txBody>
            <a:bodyPr spcFirstLastPara="1" wrap="square" lIns="23325" tIns="23325" rIns="23325" bIns="23325" anchor="ctr" anchorCtr="0">
              <a:noAutofit/>
            </a:bodyPr>
            <a:lstStyle/>
            <a:p>
              <a:pPr marL="0" marR="0" lvl="0" indent="0" algn="l"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2" name="Google Shape;92;p13"/>
          <p:cNvSpPr txBox="1"/>
          <p:nvPr/>
        </p:nvSpPr>
        <p:spPr>
          <a:xfrm>
            <a:off x="8172191" y="3177444"/>
            <a:ext cx="2515500" cy="323700"/>
          </a:xfrm>
          <a:prstGeom prst="rect">
            <a:avLst/>
          </a:prstGeom>
          <a:noFill/>
          <a:ln>
            <a:noFill/>
          </a:ln>
        </p:spPr>
        <p:txBody>
          <a:bodyPr spcFirstLastPara="1" wrap="square" lIns="0" tIns="0" rIns="0" bIns="0" anchor="t" anchorCtr="0">
            <a:spAutoFit/>
          </a:bodyPr>
          <a:lstStyle/>
          <a:p>
            <a:pPr marL="0" marR="0" lvl="0" indent="0" algn="l" rtl="0">
              <a:lnSpc>
                <a:spcPct val="139968"/>
              </a:lnSpc>
              <a:spcBef>
                <a:spcPts val="0"/>
              </a:spcBef>
              <a:spcAft>
                <a:spcPts val="0"/>
              </a:spcAft>
              <a:buNone/>
            </a:pPr>
            <a:r>
              <a:rPr lang="en-US" sz="1929" b="1" i="0" u="sng" strike="noStrike" cap="none">
                <a:solidFill>
                  <a:srgbClr val="000000"/>
                </a:solidFill>
                <a:latin typeface="Arial"/>
                <a:ea typeface="Arial"/>
                <a:cs typeface="Arial"/>
                <a:sym typeface="Arial"/>
              </a:rPr>
              <a:t>Affiliation:</a:t>
            </a:r>
            <a:endParaRPr sz="1929" b="1" i="0" u="sng" strike="noStrike" cap="none">
              <a:solidFill>
                <a:srgbClr val="000000"/>
              </a:solidFill>
              <a:latin typeface="Arial"/>
              <a:ea typeface="Arial"/>
              <a:cs typeface="Arial"/>
              <a:sym typeface="Arial"/>
            </a:endParaRPr>
          </a:p>
        </p:txBody>
      </p:sp>
      <p:grpSp>
        <p:nvGrpSpPr>
          <p:cNvPr id="93" name="Google Shape;93;p13"/>
          <p:cNvGrpSpPr/>
          <p:nvPr/>
        </p:nvGrpSpPr>
        <p:grpSpPr>
          <a:xfrm>
            <a:off x="851546" y="5207808"/>
            <a:ext cx="6409581" cy="2216104"/>
            <a:chOff x="0" y="-28575"/>
            <a:chExt cx="1217348" cy="585930"/>
          </a:xfrm>
        </p:grpSpPr>
        <p:sp>
          <p:nvSpPr>
            <p:cNvPr id="94" name="Google Shape;94;p13"/>
            <p:cNvSpPr/>
            <p:nvPr/>
          </p:nvSpPr>
          <p:spPr>
            <a:xfrm>
              <a:off x="0" y="0"/>
              <a:ext cx="1217348" cy="557355"/>
            </a:xfrm>
            <a:custGeom>
              <a:avLst/>
              <a:gdLst/>
              <a:ahLst/>
              <a:cxnLst/>
              <a:rect l="l" t="t" r="r" b="b"/>
              <a:pathLst>
                <a:path w="1217348" h="557355" extrusionOk="0">
                  <a:moveTo>
                    <a:pt x="17112" y="0"/>
                  </a:moveTo>
                  <a:lnTo>
                    <a:pt x="1200236" y="0"/>
                  </a:lnTo>
                  <a:cubicBezTo>
                    <a:pt x="1209687" y="0"/>
                    <a:pt x="1217348" y="7661"/>
                    <a:pt x="1217348" y="17112"/>
                  </a:cubicBezTo>
                  <a:lnTo>
                    <a:pt x="1217348" y="540243"/>
                  </a:lnTo>
                  <a:cubicBezTo>
                    <a:pt x="1217348" y="549694"/>
                    <a:pt x="1209687" y="557355"/>
                    <a:pt x="1200236" y="557355"/>
                  </a:cubicBezTo>
                  <a:lnTo>
                    <a:pt x="17112" y="557355"/>
                  </a:lnTo>
                  <a:cubicBezTo>
                    <a:pt x="7661" y="557355"/>
                    <a:pt x="0" y="549694"/>
                    <a:pt x="0" y="540243"/>
                  </a:cubicBezTo>
                  <a:lnTo>
                    <a:pt x="0" y="17112"/>
                  </a:lnTo>
                  <a:cubicBezTo>
                    <a:pt x="0" y="7661"/>
                    <a:pt x="7661" y="0"/>
                    <a:pt x="17112" y="0"/>
                  </a:cubicBezTo>
                  <a:close/>
                </a:path>
              </a:pathLst>
            </a:custGeom>
            <a:solidFill>
              <a:srgbClr val="FFFFFF"/>
            </a:solidFill>
            <a:ln>
              <a:noFill/>
            </a:ln>
          </p:spPr>
          <p:txBody>
            <a:bodyPr spcFirstLastPara="1" wrap="square" lIns="96450" tIns="96450" rIns="96450" bIns="96450" anchor="ctr" anchorCtr="0">
              <a:noAutofit/>
            </a:bodyPr>
            <a:lstStyle/>
            <a:p>
              <a:pPr marL="0" lvl="0" indent="0" algn="l" rtl="0">
                <a:spcBef>
                  <a:spcPts val="0"/>
                </a:spcBef>
                <a:spcAft>
                  <a:spcPts val="0"/>
                </a:spcAft>
                <a:buNone/>
              </a:pPr>
              <a:endParaRPr/>
            </a:p>
          </p:txBody>
        </p:sp>
        <p:sp>
          <p:nvSpPr>
            <p:cNvPr id="95" name="Google Shape;95;p13"/>
            <p:cNvSpPr txBox="1"/>
            <p:nvPr/>
          </p:nvSpPr>
          <p:spPr>
            <a:xfrm>
              <a:off x="0" y="-28575"/>
              <a:ext cx="1190400" cy="585900"/>
            </a:xfrm>
            <a:prstGeom prst="rect">
              <a:avLst/>
            </a:prstGeom>
            <a:noFill/>
            <a:ln>
              <a:noFill/>
            </a:ln>
          </p:spPr>
          <p:txBody>
            <a:bodyPr spcFirstLastPara="1" wrap="square" lIns="24600" tIns="24600" rIns="24600" bIns="24600" anchor="ctr" anchorCtr="0">
              <a:noAutofit/>
            </a:bodyPr>
            <a:lstStyle/>
            <a:p>
              <a:pPr marL="0" marR="0" lvl="0" indent="0" algn="l" rtl="0">
                <a:lnSpc>
                  <a:spcPct val="103555"/>
                </a:lnSpc>
                <a:spcBef>
                  <a:spcPts val="0"/>
                </a:spcBef>
                <a:spcAft>
                  <a:spcPts val="0"/>
                </a:spcAft>
                <a:buNone/>
              </a:pPr>
              <a:endParaRPr sz="1898" b="0" i="0" u="none" strike="noStrike" cap="none">
                <a:solidFill>
                  <a:schemeClr val="dk1"/>
                </a:solidFill>
                <a:latin typeface="Calibri"/>
                <a:ea typeface="Calibri"/>
                <a:cs typeface="Calibri"/>
                <a:sym typeface="Calibri"/>
              </a:endParaRPr>
            </a:p>
          </p:txBody>
        </p:sp>
      </p:grpSp>
      <p:sp>
        <p:nvSpPr>
          <p:cNvPr id="96" name="Google Shape;96;p13"/>
          <p:cNvSpPr txBox="1"/>
          <p:nvPr/>
        </p:nvSpPr>
        <p:spPr>
          <a:xfrm>
            <a:off x="954590" y="5411636"/>
            <a:ext cx="6333900" cy="18702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SzPts val="1100"/>
              <a:buNone/>
            </a:pPr>
            <a:r>
              <a:rPr lang="en-US" sz="1800" dirty="0">
                <a:solidFill>
                  <a:srgbClr val="111111"/>
                </a:solidFill>
                <a:highlight>
                  <a:srgbClr val="FFFFFF"/>
                </a:highlight>
              </a:rPr>
              <a:t>High-energy physics investigates particle collisions at extreme energies. This allows us to reproduce conditions similar to those just after the Big Bang, enabling us to study particles such as quarks and leptons, which cannot be directly observed in nature.</a:t>
            </a:r>
            <a:endParaRPr sz="1800" dirty="0">
              <a:solidFill>
                <a:srgbClr val="11111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r>
              <a:rPr lang="en-US" sz="1800" b="1" dirty="0">
                <a:solidFill>
                  <a:srgbClr val="111111"/>
                </a:solidFill>
                <a:highlight>
                  <a:srgbClr val="FFFFFF"/>
                </a:highlight>
              </a:rPr>
              <a:t>HEP speaks the language of elementary particles</a:t>
            </a:r>
            <a:endParaRPr sz="1800" b="1" dirty="0">
              <a:solidFill>
                <a:srgbClr val="111111"/>
              </a:solidFill>
              <a:highlight>
                <a:srgbClr val="FFFFFF"/>
              </a:highlight>
            </a:endParaRPr>
          </a:p>
        </p:txBody>
      </p:sp>
      <p:grpSp>
        <p:nvGrpSpPr>
          <p:cNvPr id="97" name="Google Shape;97;p13"/>
          <p:cNvGrpSpPr/>
          <p:nvPr/>
        </p:nvGrpSpPr>
        <p:grpSpPr>
          <a:xfrm>
            <a:off x="783498" y="12554665"/>
            <a:ext cx="6333983" cy="2536606"/>
            <a:chOff x="0" y="-28575"/>
            <a:chExt cx="1217348" cy="188304"/>
          </a:xfrm>
        </p:grpSpPr>
        <p:sp>
          <p:nvSpPr>
            <p:cNvPr id="98" name="Google Shape;98;p13"/>
            <p:cNvSpPr/>
            <p:nvPr/>
          </p:nvSpPr>
          <p:spPr>
            <a:xfrm>
              <a:off x="0" y="0"/>
              <a:ext cx="1217348" cy="159729"/>
            </a:xfrm>
            <a:custGeom>
              <a:avLst/>
              <a:gdLst/>
              <a:ahLst/>
              <a:cxnLst/>
              <a:rect l="l" t="t" r="r" b="b"/>
              <a:pathLst>
                <a:path w="1217348" h="159729" extrusionOk="0">
                  <a:moveTo>
                    <a:pt x="17112" y="0"/>
                  </a:moveTo>
                  <a:lnTo>
                    <a:pt x="1200236" y="0"/>
                  </a:lnTo>
                  <a:cubicBezTo>
                    <a:pt x="1209687" y="0"/>
                    <a:pt x="1217348" y="7661"/>
                    <a:pt x="1217348" y="17112"/>
                  </a:cubicBezTo>
                  <a:lnTo>
                    <a:pt x="1217348" y="142617"/>
                  </a:lnTo>
                  <a:cubicBezTo>
                    <a:pt x="1217348" y="152068"/>
                    <a:pt x="1209687" y="159729"/>
                    <a:pt x="1200236" y="159729"/>
                  </a:cubicBezTo>
                  <a:lnTo>
                    <a:pt x="17112" y="159729"/>
                  </a:lnTo>
                  <a:cubicBezTo>
                    <a:pt x="7661" y="159729"/>
                    <a:pt x="0" y="152068"/>
                    <a:pt x="0" y="142617"/>
                  </a:cubicBezTo>
                  <a:lnTo>
                    <a:pt x="0" y="17112"/>
                  </a:lnTo>
                  <a:cubicBezTo>
                    <a:pt x="0" y="7661"/>
                    <a:pt x="7661" y="0"/>
                    <a:pt x="171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3"/>
            <p:cNvSpPr txBox="1"/>
            <p:nvPr/>
          </p:nvSpPr>
          <p:spPr>
            <a:xfrm>
              <a:off x="0" y="-28575"/>
              <a:ext cx="1217348" cy="188304"/>
            </a:xfrm>
            <a:prstGeom prst="rect">
              <a:avLst/>
            </a:prstGeom>
            <a:noFill/>
            <a:ln>
              <a:noFill/>
            </a:ln>
          </p:spPr>
          <p:txBody>
            <a:bodyPr spcFirstLastPara="1" wrap="square" lIns="23325" tIns="23325" rIns="23325" bIns="23325" anchor="ctr" anchorCtr="0">
              <a:noAutofit/>
            </a:bodyPr>
            <a:lstStyle/>
            <a:p>
              <a:pPr marL="0" marR="0" lvl="0" indent="0" algn="l"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0" name="Google Shape;100;p13"/>
          <p:cNvGrpSpPr/>
          <p:nvPr/>
        </p:nvGrpSpPr>
        <p:grpSpPr>
          <a:xfrm>
            <a:off x="862839" y="12201268"/>
            <a:ext cx="4458936" cy="779259"/>
            <a:chOff x="0" y="-86178"/>
            <a:chExt cx="5945248" cy="1039012"/>
          </a:xfrm>
        </p:grpSpPr>
        <p:grpSp>
          <p:nvGrpSpPr>
            <p:cNvPr id="101" name="Google Shape;101;p13"/>
            <p:cNvGrpSpPr/>
            <p:nvPr/>
          </p:nvGrpSpPr>
          <p:grpSpPr>
            <a:xfrm>
              <a:off x="0" y="-86178"/>
              <a:ext cx="5945248" cy="1039012"/>
              <a:chOff x="0" y="-28575"/>
              <a:chExt cx="1971325" cy="344516"/>
            </a:xfrm>
          </p:grpSpPr>
          <p:sp>
            <p:nvSpPr>
              <p:cNvPr id="102" name="Google Shape;102;p13"/>
              <p:cNvSpPr/>
              <p:nvPr/>
            </p:nvSpPr>
            <p:spPr>
              <a:xfrm>
                <a:off x="0" y="0"/>
                <a:ext cx="1971325" cy="315941"/>
              </a:xfrm>
              <a:custGeom>
                <a:avLst/>
                <a:gdLst/>
                <a:ahLst/>
                <a:cxnLst/>
                <a:rect l="l" t="t" r="r" b="b"/>
                <a:pathLst>
                  <a:path w="1971325" h="315941" extrusionOk="0">
                    <a:moveTo>
                      <a:pt x="52075" y="0"/>
                    </a:moveTo>
                    <a:lnTo>
                      <a:pt x="1919250" y="0"/>
                    </a:lnTo>
                    <a:cubicBezTo>
                      <a:pt x="1948010" y="0"/>
                      <a:pt x="1971325" y="23315"/>
                      <a:pt x="1971325" y="52075"/>
                    </a:cubicBezTo>
                    <a:lnTo>
                      <a:pt x="1971325" y="263865"/>
                    </a:lnTo>
                    <a:cubicBezTo>
                      <a:pt x="1971325" y="277677"/>
                      <a:pt x="1965839" y="290922"/>
                      <a:pt x="1956073" y="300688"/>
                    </a:cubicBezTo>
                    <a:cubicBezTo>
                      <a:pt x="1946307" y="310454"/>
                      <a:pt x="1933061" y="315941"/>
                      <a:pt x="1919250" y="315941"/>
                    </a:cubicBezTo>
                    <a:lnTo>
                      <a:pt x="52075" y="315941"/>
                    </a:lnTo>
                    <a:cubicBezTo>
                      <a:pt x="38264" y="315941"/>
                      <a:pt x="25019" y="310454"/>
                      <a:pt x="15253" y="300688"/>
                    </a:cubicBezTo>
                    <a:cubicBezTo>
                      <a:pt x="5487" y="290922"/>
                      <a:pt x="0" y="277677"/>
                      <a:pt x="0" y="263865"/>
                    </a:cubicBezTo>
                    <a:lnTo>
                      <a:pt x="0" y="52075"/>
                    </a:lnTo>
                    <a:cubicBezTo>
                      <a:pt x="0" y="38264"/>
                      <a:pt x="5487" y="25019"/>
                      <a:pt x="15253" y="15253"/>
                    </a:cubicBezTo>
                    <a:cubicBezTo>
                      <a:pt x="25019" y="5487"/>
                      <a:pt x="38264" y="0"/>
                      <a:pt x="52075" y="0"/>
                    </a:cubicBezTo>
                    <a:close/>
                  </a:path>
                </a:pathLst>
              </a:custGeom>
              <a:solidFill>
                <a:srgbClr val="050A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3"/>
              <p:cNvSpPr txBox="1"/>
              <p:nvPr/>
            </p:nvSpPr>
            <p:spPr>
              <a:xfrm>
                <a:off x="0" y="-28575"/>
                <a:ext cx="1971325" cy="344516"/>
              </a:xfrm>
              <a:prstGeom prst="rect">
                <a:avLst/>
              </a:prstGeom>
              <a:noFill/>
              <a:ln>
                <a:noFill/>
              </a:ln>
            </p:spPr>
            <p:txBody>
              <a:bodyPr spcFirstLastPara="1" wrap="square" lIns="50800" tIns="50800" rIns="50800" bIns="50800" anchor="ctr" anchorCtr="0">
                <a:noAutofit/>
              </a:bodyPr>
              <a:lstStyle/>
              <a:p>
                <a:pPr marL="0" marR="0" lvl="0" indent="0" algn="l"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4" name="Google Shape;104;p13"/>
            <p:cNvGrpSpPr/>
            <p:nvPr/>
          </p:nvGrpSpPr>
          <p:grpSpPr>
            <a:xfrm>
              <a:off x="0" y="-86178"/>
              <a:ext cx="1141924" cy="564125"/>
              <a:chOff x="0" y="-28575"/>
              <a:chExt cx="378639" cy="187053"/>
            </a:xfrm>
          </p:grpSpPr>
          <p:sp>
            <p:nvSpPr>
              <p:cNvPr id="105" name="Google Shape;105;p13"/>
              <p:cNvSpPr/>
              <p:nvPr/>
            </p:nvSpPr>
            <p:spPr>
              <a:xfrm>
                <a:off x="0" y="0"/>
                <a:ext cx="378639" cy="158478"/>
              </a:xfrm>
              <a:custGeom>
                <a:avLst/>
                <a:gdLst/>
                <a:ahLst/>
                <a:cxnLst/>
                <a:rect l="l" t="t" r="r" b="b"/>
                <a:pathLst>
                  <a:path w="378639" h="158478" extrusionOk="0">
                    <a:moveTo>
                      <a:pt x="0" y="0"/>
                    </a:moveTo>
                    <a:lnTo>
                      <a:pt x="378639" y="0"/>
                    </a:lnTo>
                    <a:lnTo>
                      <a:pt x="378639" y="158478"/>
                    </a:lnTo>
                    <a:lnTo>
                      <a:pt x="0" y="158478"/>
                    </a:lnTo>
                    <a:close/>
                  </a:path>
                </a:pathLst>
              </a:custGeom>
              <a:solidFill>
                <a:srgbClr val="050A30"/>
              </a:solidFill>
              <a:ln>
                <a:noFill/>
              </a:ln>
            </p:spPr>
          </p:sp>
          <p:sp>
            <p:nvSpPr>
              <p:cNvPr id="106" name="Google Shape;106;p13"/>
              <p:cNvSpPr txBox="1"/>
              <p:nvPr/>
            </p:nvSpPr>
            <p:spPr>
              <a:xfrm>
                <a:off x="0" y="-28575"/>
                <a:ext cx="378639" cy="187053"/>
              </a:xfrm>
              <a:prstGeom prst="rect">
                <a:avLst/>
              </a:prstGeom>
              <a:noFill/>
              <a:ln>
                <a:noFill/>
              </a:ln>
            </p:spPr>
            <p:txBody>
              <a:bodyPr spcFirstLastPara="1" wrap="square" lIns="50800" tIns="50800" rIns="50800" bIns="50800" anchor="ctr" anchorCtr="0">
                <a:noAutofit/>
              </a:bodyPr>
              <a:lstStyle/>
              <a:p>
                <a:pPr marL="0" marR="0" lvl="0" indent="0" algn="ctr"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7" name="Google Shape;107;p13"/>
            <p:cNvGrpSpPr/>
            <p:nvPr/>
          </p:nvGrpSpPr>
          <p:grpSpPr>
            <a:xfrm>
              <a:off x="4803324" y="337565"/>
              <a:ext cx="1141924" cy="615269"/>
              <a:chOff x="0" y="-28575"/>
              <a:chExt cx="378639" cy="204011"/>
            </a:xfrm>
          </p:grpSpPr>
          <p:sp>
            <p:nvSpPr>
              <p:cNvPr id="108" name="Google Shape;108;p13"/>
              <p:cNvSpPr/>
              <p:nvPr/>
            </p:nvSpPr>
            <p:spPr>
              <a:xfrm>
                <a:off x="0" y="0"/>
                <a:ext cx="378639" cy="175436"/>
              </a:xfrm>
              <a:custGeom>
                <a:avLst/>
                <a:gdLst/>
                <a:ahLst/>
                <a:cxnLst/>
                <a:rect l="l" t="t" r="r" b="b"/>
                <a:pathLst>
                  <a:path w="378639" h="175436" extrusionOk="0">
                    <a:moveTo>
                      <a:pt x="0" y="0"/>
                    </a:moveTo>
                    <a:lnTo>
                      <a:pt x="378639" y="0"/>
                    </a:lnTo>
                    <a:lnTo>
                      <a:pt x="378639" y="175436"/>
                    </a:lnTo>
                    <a:lnTo>
                      <a:pt x="0" y="175436"/>
                    </a:lnTo>
                    <a:close/>
                  </a:path>
                </a:pathLst>
              </a:custGeom>
              <a:solidFill>
                <a:srgbClr val="050A30"/>
              </a:solidFill>
              <a:ln>
                <a:noFill/>
              </a:ln>
            </p:spPr>
          </p:sp>
          <p:sp>
            <p:nvSpPr>
              <p:cNvPr id="109" name="Google Shape;109;p13"/>
              <p:cNvSpPr txBox="1"/>
              <p:nvPr/>
            </p:nvSpPr>
            <p:spPr>
              <a:xfrm>
                <a:off x="0" y="-28575"/>
                <a:ext cx="378639" cy="204011"/>
              </a:xfrm>
              <a:prstGeom prst="rect">
                <a:avLst/>
              </a:prstGeom>
              <a:noFill/>
              <a:ln>
                <a:noFill/>
              </a:ln>
            </p:spPr>
            <p:txBody>
              <a:bodyPr spcFirstLastPara="1" wrap="square" lIns="50800" tIns="50800" rIns="50800" bIns="50800" anchor="ctr" anchorCtr="0">
                <a:noAutofit/>
              </a:bodyPr>
              <a:lstStyle/>
              <a:p>
                <a:pPr marL="0" marR="0" lvl="0" indent="0" algn="ctr"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10" name="Google Shape;110;p13"/>
          <p:cNvSpPr txBox="1"/>
          <p:nvPr/>
        </p:nvSpPr>
        <p:spPr>
          <a:xfrm>
            <a:off x="855722" y="12338297"/>
            <a:ext cx="4240800" cy="505200"/>
          </a:xfrm>
          <a:prstGeom prst="rect">
            <a:avLst/>
          </a:prstGeom>
          <a:noFill/>
          <a:ln>
            <a:noFill/>
          </a:ln>
        </p:spPr>
        <p:txBody>
          <a:bodyPr spcFirstLastPara="1" wrap="square" lIns="0" tIns="0" rIns="0" bIns="0" anchor="t" anchorCtr="0">
            <a:spAutoFit/>
          </a:bodyPr>
          <a:lstStyle/>
          <a:p>
            <a:pPr marL="0" marR="0" lvl="0" indent="0" algn="ctr" rtl="0">
              <a:lnSpc>
                <a:spcPct val="139993"/>
              </a:lnSpc>
              <a:spcBef>
                <a:spcPts val="0"/>
              </a:spcBef>
              <a:spcAft>
                <a:spcPts val="0"/>
              </a:spcAft>
              <a:buNone/>
            </a:pPr>
            <a:r>
              <a:rPr lang="en-US" sz="2983" b="0" i="0" u="none" strike="noStrike" cap="none" dirty="0">
                <a:solidFill>
                  <a:srgbClr val="FFFFFF"/>
                </a:solidFill>
                <a:latin typeface="Arial"/>
                <a:ea typeface="Arial"/>
                <a:cs typeface="Arial"/>
                <a:sym typeface="Arial"/>
              </a:rPr>
              <a:t>CONTEXT</a:t>
            </a:r>
            <a:endParaRPr sz="2983" b="0" i="0" u="none" strike="noStrike" cap="none" dirty="0">
              <a:solidFill>
                <a:srgbClr val="FFFFFF"/>
              </a:solidFill>
              <a:latin typeface="Arial"/>
              <a:ea typeface="Arial"/>
              <a:cs typeface="Arial"/>
              <a:sym typeface="Arial"/>
            </a:endParaRPr>
          </a:p>
        </p:txBody>
      </p:sp>
      <p:sp>
        <p:nvSpPr>
          <p:cNvPr id="111" name="Google Shape;111;p13"/>
          <p:cNvSpPr txBox="1"/>
          <p:nvPr/>
        </p:nvSpPr>
        <p:spPr>
          <a:xfrm>
            <a:off x="979297" y="12935880"/>
            <a:ext cx="6240300" cy="2456057"/>
          </a:xfrm>
          <a:prstGeom prst="rect">
            <a:avLst/>
          </a:prstGeom>
          <a:noFill/>
          <a:ln>
            <a:noFill/>
          </a:ln>
        </p:spPr>
        <p:txBody>
          <a:bodyPr spcFirstLastPara="1" wrap="square" lIns="0" tIns="0" rIns="0" bIns="0" anchor="t" anchorCtr="0">
            <a:spAutoFit/>
          </a:bodyPr>
          <a:lstStyle/>
          <a:p>
            <a:pPr marL="0" marR="0" lvl="0" indent="0" algn="l" rtl="0">
              <a:lnSpc>
                <a:spcPct val="139968"/>
              </a:lnSpc>
              <a:spcBef>
                <a:spcPts val="0"/>
              </a:spcBef>
              <a:spcAft>
                <a:spcPts val="0"/>
              </a:spcAft>
              <a:buNone/>
            </a:pPr>
            <a:r>
              <a:rPr lang="en-US" sz="1800" dirty="0">
                <a:solidFill>
                  <a:srgbClr val="111111"/>
                </a:solidFill>
                <a:highlight>
                  <a:srgbClr val="FFFFFF"/>
                </a:highlight>
              </a:rPr>
              <a:t>D</a:t>
            </a:r>
            <a:r>
              <a:rPr lang="en-US" sz="1800" dirty="0">
                <a:solidFill>
                  <a:schemeClr val="dk1"/>
                </a:solidFill>
                <a:highlight>
                  <a:schemeClr val="lt1"/>
                </a:highlight>
              </a:rPr>
              <a:t>etectors, like ATLAS, act as giant "</a:t>
            </a:r>
            <a:r>
              <a:rPr lang="en-US" sz="1800" b="1" dirty="0">
                <a:solidFill>
                  <a:schemeClr val="dk1"/>
                </a:solidFill>
                <a:highlight>
                  <a:schemeClr val="lt1"/>
                </a:highlight>
              </a:rPr>
              <a:t>digital cameras</a:t>
            </a:r>
            <a:r>
              <a:rPr lang="en-US" sz="1800" dirty="0">
                <a:solidFill>
                  <a:schemeClr val="dk1"/>
                </a:solidFill>
                <a:highlight>
                  <a:schemeClr val="lt1"/>
                </a:highlight>
              </a:rPr>
              <a:t>" that capture the traces particles leave </a:t>
            </a:r>
            <a:r>
              <a:rPr lang="en-US" sz="1800" dirty="0" err="1">
                <a:solidFill>
                  <a:schemeClr val="dk1"/>
                </a:solidFill>
                <a:highlight>
                  <a:schemeClr val="lt1"/>
                </a:highlight>
              </a:rPr>
              <a:t>behind.The</a:t>
            </a:r>
            <a:r>
              <a:rPr lang="en-US" sz="1800" dirty="0">
                <a:solidFill>
                  <a:schemeClr val="dk1"/>
                </a:solidFill>
                <a:highlight>
                  <a:schemeClr val="lt1"/>
                </a:highlight>
              </a:rPr>
              <a:t> experiment is based on the collision of protons and the analysis of the results:</a:t>
            </a:r>
            <a:r>
              <a:rPr lang="en-US" sz="1800" b="1" dirty="0">
                <a:solidFill>
                  <a:schemeClr val="dk1"/>
                </a:solidFill>
                <a:highlight>
                  <a:schemeClr val="lt1"/>
                </a:highlight>
              </a:rPr>
              <a:t> </a:t>
            </a:r>
            <a:r>
              <a:rPr lang="en-US" sz="1800" b="1" dirty="0">
                <a:solidFill>
                  <a:schemeClr val="dk1"/>
                </a:solidFill>
              </a:rPr>
              <a:t>Inner tracking detectors</a:t>
            </a:r>
            <a:r>
              <a:rPr lang="en-US" sz="1800" b="1" dirty="0">
                <a:solidFill>
                  <a:schemeClr val="dk1"/>
                </a:solidFill>
                <a:highlight>
                  <a:schemeClr val="lt1"/>
                </a:highlight>
              </a:rPr>
              <a:t>→ Energy measurement → Muon identification → Magnetic bending.</a:t>
            </a:r>
            <a:r>
              <a:rPr lang="en-US" sz="2400" dirty="0"/>
              <a:t> </a:t>
            </a:r>
            <a:br>
              <a:rPr lang="en-US" sz="2400" dirty="0"/>
            </a:br>
            <a:endParaRPr sz="1800" i="0" u="none" strike="noStrike" cap="none" dirty="0">
              <a:solidFill>
                <a:srgbClr val="FF0000"/>
              </a:solidFill>
              <a:highlight>
                <a:schemeClr val="lt1"/>
              </a:highlight>
            </a:endParaRPr>
          </a:p>
        </p:txBody>
      </p:sp>
      <p:grpSp>
        <p:nvGrpSpPr>
          <p:cNvPr id="112" name="Google Shape;112;p13"/>
          <p:cNvGrpSpPr/>
          <p:nvPr/>
        </p:nvGrpSpPr>
        <p:grpSpPr>
          <a:xfrm>
            <a:off x="783506" y="16039326"/>
            <a:ext cx="6333983" cy="3863998"/>
            <a:chOff x="0" y="-28575"/>
            <a:chExt cx="1217348" cy="657769"/>
          </a:xfrm>
        </p:grpSpPr>
        <p:sp>
          <p:nvSpPr>
            <p:cNvPr id="113" name="Google Shape;113;p13"/>
            <p:cNvSpPr/>
            <p:nvPr/>
          </p:nvSpPr>
          <p:spPr>
            <a:xfrm>
              <a:off x="0" y="0"/>
              <a:ext cx="1217348" cy="629194"/>
            </a:xfrm>
            <a:custGeom>
              <a:avLst/>
              <a:gdLst/>
              <a:ahLst/>
              <a:cxnLst/>
              <a:rect l="l" t="t" r="r" b="b"/>
              <a:pathLst>
                <a:path w="1217348" h="629194" extrusionOk="0">
                  <a:moveTo>
                    <a:pt x="17112" y="0"/>
                  </a:moveTo>
                  <a:lnTo>
                    <a:pt x="1200236" y="0"/>
                  </a:lnTo>
                  <a:cubicBezTo>
                    <a:pt x="1209687" y="0"/>
                    <a:pt x="1217348" y="7661"/>
                    <a:pt x="1217348" y="17112"/>
                  </a:cubicBezTo>
                  <a:lnTo>
                    <a:pt x="1217348" y="612082"/>
                  </a:lnTo>
                  <a:cubicBezTo>
                    <a:pt x="1217348" y="621533"/>
                    <a:pt x="1209687" y="629194"/>
                    <a:pt x="1200236" y="629194"/>
                  </a:cubicBezTo>
                  <a:lnTo>
                    <a:pt x="17112" y="629194"/>
                  </a:lnTo>
                  <a:cubicBezTo>
                    <a:pt x="7661" y="629194"/>
                    <a:pt x="0" y="621533"/>
                    <a:pt x="0" y="612082"/>
                  </a:cubicBezTo>
                  <a:lnTo>
                    <a:pt x="0" y="17112"/>
                  </a:lnTo>
                  <a:cubicBezTo>
                    <a:pt x="0" y="7661"/>
                    <a:pt x="7661" y="0"/>
                    <a:pt x="171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3"/>
            <p:cNvSpPr txBox="1"/>
            <p:nvPr/>
          </p:nvSpPr>
          <p:spPr>
            <a:xfrm>
              <a:off x="0" y="-28575"/>
              <a:ext cx="1217348" cy="657769"/>
            </a:xfrm>
            <a:prstGeom prst="rect">
              <a:avLst/>
            </a:prstGeom>
            <a:noFill/>
            <a:ln>
              <a:noFill/>
            </a:ln>
          </p:spPr>
          <p:txBody>
            <a:bodyPr spcFirstLastPara="1" wrap="square" lIns="23325" tIns="23325" rIns="23325" bIns="23325" anchor="ctr" anchorCtr="0">
              <a:noAutofit/>
            </a:bodyPr>
            <a:lstStyle/>
            <a:p>
              <a:pPr marL="0" marR="0" lvl="0" indent="0" algn="l"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5" name="Google Shape;115;p13"/>
          <p:cNvGrpSpPr/>
          <p:nvPr/>
        </p:nvGrpSpPr>
        <p:grpSpPr>
          <a:xfrm>
            <a:off x="911183" y="15570740"/>
            <a:ext cx="4458936" cy="779259"/>
            <a:chOff x="0" y="-86178"/>
            <a:chExt cx="5945248" cy="1039012"/>
          </a:xfrm>
        </p:grpSpPr>
        <p:grpSp>
          <p:nvGrpSpPr>
            <p:cNvPr id="116" name="Google Shape;116;p13"/>
            <p:cNvGrpSpPr/>
            <p:nvPr/>
          </p:nvGrpSpPr>
          <p:grpSpPr>
            <a:xfrm>
              <a:off x="0" y="-86178"/>
              <a:ext cx="5945248" cy="1039012"/>
              <a:chOff x="0" y="-28575"/>
              <a:chExt cx="1971325" cy="344516"/>
            </a:xfrm>
          </p:grpSpPr>
          <p:sp>
            <p:nvSpPr>
              <p:cNvPr id="117" name="Google Shape;117;p13"/>
              <p:cNvSpPr/>
              <p:nvPr/>
            </p:nvSpPr>
            <p:spPr>
              <a:xfrm>
                <a:off x="0" y="0"/>
                <a:ext cx="1971325" cy="315941"/>
              </a:xfrm>
              <a:custGeom>
                <a:avLst/>
                <a:gdLst/>
                <a:ahLst/>
                <a:cxnLst/>
                <a:rect l="l" t="t" r="r" b="b"/>
                <a:pathLst>
                  <a:path w="1971325" h="315941" extrusionOk="0">
                    <a:moveTo>
                      <a:pt x="52075" y="0"/>
                    </a:moveTo>
                    <a:lnTo>
                      <a:pt x="1919250" y="0"/>
                    </a:lnTo>
                    <a:cubicBezTo>
                      <a:pt x="1948010" y="0"/>
                      <a:pt x="1971325" y="23315"/>
                      <a:pt x="1971325" y="52075"/>
                    </a:cubicBezTo>
                    <a:lnTo>
                      <a:pt x="1971325" y="263865"/>
                    </a:lnTo>
                    <a:cubicBezTo>
                      <a:pt x="1971325" y="277677"/>
                      <a:pt x="1965839" y="290922"/>
                      <a:pt x="1956073" y="300688"/>
                    </a:cubicBezTo>
                    <a:cubicBezTo>
                      <a:pt x="1946307" y="310454"/>
                      <a:pt x="1933061" y="315941"/>
                      <a:pt x="1919250" y="315941"/>
                    </a:cubicBezTo>
                    <a:lnTo>
                      <a:pt x="52075" y="315941"/>
                    </a:lnTo>
                    <a:cubicBezTo>
                      <a:pt x="38264" y="315941"/>
                      <a:pt x="25019" y="310454"/>
                      <a:pt x="15253" y="300688"/>
                    </a:cubicBezTo>
                    <a:cubicBezTo>
                      <a:pt x="5487" y="290922"/>
                      <a:pt x="0" y="277677"/>
                      <a:pt x="0" y="263865"/>
                    </a:cubicBezTo>
                    <a:lnTo>
                      <a:pt x="0" y="52075"/>
                    </a:lnTo>
                    <a:cubicBezTo>
                      <a:pt x="0" y="38264"/>
                      <a:pt x="5487" y="25019"/>
                      <a:pt x="15253" y="15253"/>
                    </a:cubicBezTo>
                    <a:cubicBezTo>
                      <a:pt x="25019" y="5487"/>
                      <a:pt x="38264" y="0"/>
                      <a:pt x="52075" y="0"/>
                    </a:cubicBezTo>
                    <a:close/>
                  </a:path>
                </a:pathLst>
              </a:custGeom>
              <a:solidFill>
                <a:srgbClr val="050A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3"/>
              <p:cNvSpPr txBox="1"/>
              <p:nvPr/>
            </p:nvSpPr>
            <p:spPr>
              <a:xfrm>
                <a:off x="0" y="-28575"/>
                <a:ext cx="1971325" cy="344516"/>
              </a:xfrm>
              <a:prstGeom prst="rect">
                <a:avLst/>
              </a:prstGeom>
              <a:noFill/>
              <a:ln>
                <a:noFill/>
              </a:ln>
            </p:spPr>
            <p:txBody>
              <a:bodyPr spcFirstLastPara="1" wrap="square" lIns="50800" tIns="50800" rIns="50800" bIns="50800" anchor="ctr" anchorCtr="0">
                <a:noAutofit/>
              </a:bodyPr>
              <a:lstStyle/>
              <a:p>
                <a:pPr marL="0" marR="0" lvl="0" indent="0" algn="l"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9" name="Google Shape;119;p13"/>
            <p:cNvGrpSpPr/>
            <p:nvPr/>
          </p:nvGrpSpPr>
          <p:grpSpPr>
            <a:xfrm>
              <a:off x="0" y="-86178"/>
              <a:ext cx="1141924" cy="564125"/>
              <a:chOff x="0" y="-28575"/>
              <a:chExt cx="378639" cy="187053"/>
            </a:xfrm>
          </p:grpSpPr>
          <p:sp>
            <p:nvSpPr>
              <p:cNvPr id="120" name="Google Shape;120;p13"/>
              <p:cNvSpPr/>
              <p:nvPr/>
            </p:nvSpPr>
            <p:spPr>
              <a:xfrm>
                <a:off x="0" y="0"/>
                <a:ext cx="378639" cy="158478"/>
              </a:xfrm>
              <a:custGeom>
                <a:avLst/>
                <a:gdLst/>
                <a:ahLst/>
                <a:cxnLst/>
                <a:rect l="l" t="t" r="r" b="b"/>
                <a:pathLst>
                  <a:path w="378639" h="158478" extrusionOk="0">
                    <a:moveTo>
                      <a:pt x="0" y="0"/>
                    </a:moveTo>
                    <a:lnTo>
                      <a:pt x="378639" y="0"/>
                    </a:lnTo>
                    <a:lnTo>
                      <a:pt x="378639" y="158478"/>
                    </a:lnTo>
                    <a:lnTo>
                      <a:pt x="0" y="158478"/>
                    </a:lnTo>
                    <a:close/>
                  </a:path>
                </a:pathLst>
              </a:custGeom>
              <a:solidFill>
                <a:srgbClr val="050A30"/>
              </a:solidFill>
              <a:ln>
                <a:noFill/>
              </a:ln>
            </p:spPr>
          </p:sp>
          <p:sp>
            <p:nvSpPr>
              <p:cNvPr id="121" name="Google Shape;121;p13"/>
              <p:cNvSpPr txBox="1"/>
              <p:nvPr/>
            </p:nvSpPr>
            <p:spPr>
              <a:xfrm>
                <a:off x="0" y="-28575"/>
                <a:ext cx="378639" cy="187053"/>
              </a:xfrm>
              <a:prstGeom prst="rect">
                <a:avLst/>
              </a:prstGeom>
              <a:noFill/>
              <a:ln>
                <a:noFill/>
              </a:ln>
            </p:spPr>
            <p:txBody>
              <a:bodyPr spcFirstLastPara="1" wrap="square" lIns="50800" tIns="50800" rIns="50800" bIns="50800" anchor="ctr" anchorCtr="0">
                <a:noAutofit/>
              </a:bodyPr>
              <a:lstStyle/>
              <a:p>
                <a:pPr marL="0" marR="0" lvl="0" indent="0" algn="ctr"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2" name="Google Shape;122;p13"/>
            <p:cNvGrpSpPr/>
            <p:nvPr/>
          </p:nvGrpSpPr>
          <p:grpSpPr>
            <a:xfrm>
              <a:off x="4803324" y="337565"/>
              <a:ext cx="1141924" cy="615269"/>
              <a:chOff x="0" y="-28575"/>
              <a:chExt cx="378639" cy="204011"/>
            </a:xfrm>
          </p:grpSpPr>
          <p:sp>
            <p:nvSpPr>
              <p:cNvPr id="123" name="Google Shape;123;p13"/>
              <p:cNvSpPr/>
              <p:nvPr/>
            </p:nvSpPr>
            <p:spPr>
              <a:xfrm>
                <a:off x="0" y="0"/>
                <a:ext cx="378639" cy="175436"/>
              </a:xfrm>
              <a:custGeom>
                <a:avLst/>
                <a:gdLst/>
                <a:ahLst/>
                <a:cxnLst/>
                <a:rect l="l" t="t" r="r" b="b"/>
                <a:pathLst>
                  <a:path w="378639" h="175436" extrusionOk="0">
                    <a:moveTo>
                      <a:pt x="0" y="0"/>
                    </a:moveTo>
                    <a:lnTo>
                      <a:pt x="378639" y="0"/>
                    </a:lnTo>
                    <a:lnTo>
                      <a:pt x="378639" y="175436"/>
                    </a:lnTo>
                    <a:lnTo>
                      <a:pt x="0" y="175436"/>
                    </a:lnTo>
                    <a:close/>
                  </a:path>
                </a:pathLst>
              </a:custGeom>
              <a:solidFill>
                <a:srgbClr val="050A30"/>
              </a:solidFill>
              <a:ln>
                <a:noFill/>
              </a:ln>
            </p:spPr>
          </p:sp>
          <p:sp>
            <p:nvSpPr>
              <p:cNvPr id="124" name="Google Shape;124;p13"/>
              <p:cNvSpPr txBox="1"/>
              <p:nvPr/>
            </p:nvSpPr>
            <p:spPr>
              <a:xfrm>
                <a:off x="0" y="-28575"/>
                <a:ext cx="378639" cy="204011"/>
              </a:xfrm>
              <a:prstGeom prst="rect">
                <a:avLst/>
              </a:prstGeom>
              <a:noFill/>
              <a:ln>
                <a:noFill/>
              </a:ln>
            </p:spPr>
            <p:txBody>
              <a:bodyPr spcFirstLastPara="1" wrap="square" lIns="50800" tIns="50800" rIns="50800" bIns="50800" anchor="ctr" anchorCtr="0">
                <a:noAutofit/>
              </a:bodyPr>
              <a:lstStyle/>
              <a:p>
                <a:pPr marL="0" marR="0" lvl="0" indent="0" algn="ctr"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25" name="Google Shape;125;p13"/>
          <p:cNvSpPr txBox="1"/>
          <p:nvPr/>
        </p:nvSpPr>
        <p:spPr>
          <a:xfrm>
            <a:off x="1000833" y="15711452"/>
            <a:ext cx="4240800" cy="505200"/>
          </a:xfrm>
          <a:prstGeom prst="rect">
            <a:avLst/>
          </a:prstGeom>
          <a:noFill/>
          <a:ln>
            <a:noFill/>
          </a:ln>
        </p:spPr>
        <p:txBody>
          <a:bodyPr spcFirstLastPara="1" wrap="square" lIns="0" tIns="0" rIns="0" bIns="0" anchor="t" anchorCtr="0">
            <a:spAutoFit/>
          </a:bodyPr>
          <a:lstStyle/>
          <a:p>
            <a:pPr marL="0" marR="0" lvl="0" indent="0" algn="ctr" rtl="0">
              <a:lnSpc>
                <a:spcPct val="139993"/>
              </a:lnSpc>
              <a:spcBef>
                <a:spcPts val="0"/>
              </a:spcBef>
              <a:spcAft>
                <a:spcPts val="0"/>
              </a:spcAft>
              <a:buNone/>
            </a:pPr>
            <a:r>
              <a:rPr lang="en-US" sz="2983" b="0" i="0" u="none" strike="noStrike" cap="none" dirty="0">
                <a:solidFill>
                  <a:srgbClr val="FFFFFF"/>
                </a:solidFill>
                <a:latin typeface="Arial"/>
                <a:ea typeface="Arial"/>
                <a:cs typeface="Arial"/>
                <a:sym typeface="Arial"/>
              </a:rPr>
              <a:t>METHODS</a:t>
            </a:r>
            <a:endParaRPr sz="2983" b="0" i="0" u="none" strike="noStrike" cap="none" dirty="0">
              <a:solidFill>
                <a:srgbClr val="FFFFFF"/>
              </a:solidFill>
              <a:latin typeface="Arial"/>
              <a:ea typeface="Arial"/>
              <a:cs typeface="Arial"/>
              <a:sym typeface="Arial"/>
            </a:endParaRPr>
          </a:p>
        </p:txBody>
      </p:sp>
      <p:sp>
        <p:nvSpPr>
          <p:cNvPr id="126" name="Google Shape;126;p13"/>
          <p:cNvSpPr txBox="1"/>
          <p:nvPr/>
        </p:nvSpPr>
        <p:spPr>
          <a:xfrm>
            <a:off x="873148" y="16180850"/>
            <a:ext cx="6139200" cy="3980700"/>
          </a:xfrm>
          <a:prstGeom prst="rect">
            <a:avLst/>
          </a:prstGeom>
          <a:noFill/>
          <a:ln>
            <a:noFill/>
          </a:ln>
        </p:spPr>
        <p:txBody>
          <a:bodyPr spcFirstLastPara="1" wrap="square" lIns="0" tIns="0" rIns="0" bIns="0" anchor="t" anchorCtr="0">
            <a:spAutoFit/>
          </a:bodyPr>
          <a:lstStyle/>
          <a:p>
            <a:pPr marL="0" lvl="0" indent="0" algn="l" rtl="0">
              <a:spcBef>
                <a:spcPts val="1400"/>
              </a:spcBef>
              <a:spcAft>
                <a:spcPts val="0"/>
              </a:spcAft>
              <a:buClr>
                <a:schemeClr val="dk1"/>
              </a:buClr>
              <a:buSzPts val="1100"/>
              <a:buFont typeface="Arial"/>
              <a:buNone/>
            </a:pPr>
            <a:r>
              <a:rPr lang="en-US" sz="1800" dirty="0">
                <a:solidFill>
                  <a:schemeClr val="dk1"/>
                </a:solidFill>
              </a:rPr>
              <a:t>Modern particle detectors are built like </a:t>
            </a:r>
            <a:r>
              <a:rPr lang="en-US" sz="1800" b="1" dirty="0">
                <a:solidFill>
                  <a:schemeClr val="dk1"/>
                </a:solidFill>
              </a:rPr>
              <a:t>giant onions</a:t>
            </a:r>
            <a:r>
              <a:rPr lang="en-US" sz="1800" dirty="0">
                <a:solidFill>
                  <a:schemeClr val="dk1"/>
                </a:solidFill>
              </a:rPr>
              <a:t>. Each layer has a specific task:</a:t>
            </a:r>
            <a:endParaRPr sz="1800" dirty="0">
              <a:solidFill>
                <a:schemeClr val="dk1"/>
              </a:solidFill>
            </a:endParaRPr>
          </a:p>
          <a:p>
            <a:pPr marL="457200" lvl="0" indent="-342900" algn="l" rtl="0">
              <a:spcBef>
                <a:spcPts val="1400"/>
              </a:spcBef>
              <a:spcAft>
                <a:spcPts val="0"/>
              </a:spcAft>
              <a:buClr>
                <a:schemeClr val="dk1"/>
              </a:buClr>
              <a:buSzPts val="1800"/>
              <a:buAutoNum type="arabicPeriod"/>
            </a:pPr>
            <a:r>
              <a:rPr lang="en-US" sz="1800" b="1" dirty="0">
                <a:solidFill>
                  <a:schemeClr val="dk1"/>
                </a:solidFill>
              </a:rPr>
              <a:t>Tracking detectors:</a:t>
            </a:r>
            <a:r>
              <a:rPr lang="en-US" sz="1800" dirty="0">
                <a:solidFill>
                  <a:schemeClr val="dk1"/>
                </a:solidFill>
              </a:rPr>
              <a:t> measure the paths of charged particles. </a:t>
            </a:r>
            <a:r>
              <a:rPr lang="en-US" sz="1800" dirty="0">
                <a:solidFill>
                  <a:srgbClr val="111111"/>
                </a:solidFill>
                <a:highlight>
                  <a:schemeClr val="lt1"/>
                </a:highlight>
              </a:rPr>
              <a:t>They can be silicon </a:t>
            </a:r>
            <a:r>
              <a:rPr lang="en-US" sz="1800" i="1" dirty="0">
                <a:solidFill>
                  <a:srgbClr val="111111"/>
                </a:solidFill>
                <a:highlight>
                  <a:schemeClr val="lt1"/>
                </a:highlight>
              </a:rPr>
              <a:t>pixel</a:t>
            </a:r>
            <a:r>
              <a:rPr lang="en-US" sz="1800" dirty="0">
                <a:solidFill>
                  <a:srgbClr val="111111"/>
                </a:solidFill>
                <a:highlight>
                  <a:schemeClr val="lt1"/>
                </a:highlight>
              </a:rPr>
              <a:t> and </a:t>
            </a:r>
            <a:r>
              <a:rPr lang="en-US" sz="1800" i="1" dirty="0">
                <a:solidFill>
                  <a:srgbClr val="111111"/>
                </a:solidFill>
                <a:highlight>
                  <a:schemeClr val="lt1"/>
                </a:highlight>
              </a:rPr>
              <a:t>strip</a:t>
            </a:r>
            <a:r>
              <a:rPr lang="en-US" sz="1800" dirty="0">
                <a:solidFill>
                  <a:srgbClr val="111111"/>
                </a:solidFill>
                <a:highlight>
                  <a:schemeClr val="lt1"/>
                </a:highlight>
              </a:rPr>
              <a:t>.</a:t>
            </a:r>
            <a:endParaRPr sz="1800" dirty="0">
              <a:solidFill>
                <a:schemeClr val="dk1"/>
              </a:solidFill>
            </a:endParaRPr>
          </a:p>
          <a:p>
            <a:pPr marL="457200" lvl="0" indent="-342900" algn="l" rtl="0">
              <a:spcBef>
                <a:spcPts val="0"/>
              </a:spcBef>
              <a:spcAft>
                <a:spcPts val="0"/>
              </a:spcAft>
              <a:buClr>
                <a:schemeClr val="dk1"/>
              </a:buClr>
              <a:buSzPts val="1800"/>
              <a:buAutoNum type="arabicPeriod"/>
            </a:pPr>
            <a:r>
              <a:rPr lang="en-US" sz="1800" b="1" dirty="0">
                <a:solidFill>
                  <a:schemeClr val="dk1"/>
                </a:solidFill>
              </a:rPr>
              <a:t>Calorimeters:</a:t>
            </a:r>
            <a:r>
              <a:rPr lang="en-US" sz="1800" dirty="0">
                <a:solidFill>
                  <a:schemeClr val="dk1"/>
                </a:solidFill>
              </a:rPr>
              <a:t> stop particles and measure their energy. </a:t>
            </a:r>
            <a:r>
              <a:rPr lang="en-US" sz="1800" i="1" dirty="0">
                <a:solidFill>
                  <a:srgbClr val="111111"/>
                </a:solidFill>
                <a:highlight>
                  <a:schemeClr val="lt1"/>
                </a:highlight>
              </a:rPr>
              <a:t>ECAL</a:t>
            </a:r>
            <a:r>
              <a:rPr lang="en-US" sz="1800" dirty="0">
                <a:solidFill>
                  <a:srgbClr val="111111"/>
                </a:solidFill>
                <a:highlight>
                  <a:schemeClr val="lt1"/>
                </a:highlight>
              </a:rPr>
              <a:t> and </a:t>
            </a:r>
            <a:r>
              <a:rPr lang="en-US" sz="1800" i="1" dirty="0">
                <a:solidFill>
                  <a:srgbClr val="111111"/>
                </a:solidFill>
                <a:highlight>
                  <a:schemeClr val="lt1"/>
                </a:highlight>
              </a:rPr>
              <a:t>HCAL</a:t>
            </a:r>
            <a:r>
              <a:rPr lang="en-US" sz="1800" dirty="0">
                <a:solidFill>
                  <a:srgbClr val="111111"/>
                </a:solidFill>
                <a:highlight>
                  <a:schemeClr val="lt1"/>
                </a:highlight>
              </a:rPr>
              <a:t> capture most of the visible energy in a collision.</a:t>
            </a:r>
            <a:endParaRPr sz="1800" dirty="0">
              <a:solidFill>
                <a:schemeClr val="dk1"/>
              </a:solidFill>
              <a:highlight>
                <a:schemeClr val="lt1"/>
              </a:highlight>
            </a:endParaRPr>
          </a:p>
          <a:p>
            <a:pPr marL="457200" lvl="0" indent="-342900" algn="l" rtl="0">
              <a:spcBef>
                <a:spcPts val="0"/>
              </a:spcBef>
              <a:spcAft>
                <a:spcPts val="0"/>
              </a:spcAft>
              <a:buClr>
                <a:schemeClr val="dk1"/>
              </a:buClr>
              <a:buSzPts val="1800"/>
              <a:buAutoNum type="arabicPeriod"/>
            </a:pPr>
            <a:r>
              <a:rPr lang="en-US" sz="1800" b="1" dirty="0">
                <a:solidFill>
                  <a:schemeClr val="dk1"/>
                </a:solidFill>
              </a:rPr>
              <a:t>Muon systems:</a:t>
            </a:r>
            <a:r>
              <a:rPr lang="en-US" sz="1800" dirty="0">
                <a:solidFill>
                  <a:schemeClr val="dk1"/>
                </a:solidFill>
              </a:rPr>
              <a:t> detect muons, which penetrate the other layers. </a:t>
            </a:r>
            <a:r>
              <a:rPr lang="en-US" sz="1800" dirty="0">
                <a:solidFill>
                  <a:srgbClr val="111111"/>
                </a:solidFill>
                <a:highlight>
                  <a:schemeClr val="lt1"/>
                </a:highlight>
              </a:rPr>
              <a:t>Use technologies like: </a:t>
            </a:r>
            <a:r>
              <a:rPr lang="en-US" sz="1800" dirty="0">
                <a:solidFill>
                  <a:schemeClr val="dk1"/>
                </a:solidFill>
                <a:highlight>
                  <a:schemeClr val="lt1"/>
                </a:highlight>
              </a:rPr>
              <a:t>Drift tubes and Resistive Plate Chambers</a:t>
            </a:r>
            <a:endParaRPr sz="1800" dirty="0">
              <a:solidFill>
                <a:schemeClr val="dk1"/>
              </a:solidFill>
              <a:highlight>
                <a:schemeClr val="lt1"/>
              </a:highlight>
            </a:endParaRPr>
          </a:p>
          <a:p>
            <a:pPr marL="457200" lvl="0" indent="-342900" algn="l" rtl="0">
              <a:spcBef>
                <a:spcPts val="0"/>
              </a:spcBef>
              <a:spcAft>
                <a:spcPts val="0"/>
              </a:spcAft>
              <a:buClr>
                <a:schemeClr val="dk1"/>
              </a:buClr>
              <a:buSzPts val="1800"/>
              <a:buAutoNum type="arabicPeriod"/>
            </a:pPr>
            <a:r>
              <a:rPr lang="en-US" sz="1800" b="1" dirty="0">
                <a:solidFill>
                  <a:schemeClr val="dk1"/>
                </a:solidFill>
              </a:rPr>
              <a:t>Magnets:</a:t>
            </a:r>
            <a:r>
              <a:rPr lang="en-US" sz="1800" dirty="0">
                <a:solidFill>
                  <a:schemeClr val="dk1"/>
                </a:solidFill>
              </a:rPr>
              <a:t> bend charged particles, allowing measurement of momentum.</a:t>
            </a:r>
            <a:endParaRPr sz="1800" dirty="0">
              <a:solidFill>
                <a:schemeClr val="dk1"/>
              </a:solidFill>
            </a:endParaRPr>
          </a:p>
          <a:p>
            <a:pPr marL="0" marR="0" lvl="0" indent="0" algn="l" rtl="0">
              <a:lnSpc>
                <a:spcPct val="139968"/>
              </a:lnSpc>
              <a:spcBef>
                <a:spcPts val="1400"/>
              </a:spcBef>
              <a:spcAft>
                <a:spcPts val="0"/>
              </a:spcAft>
              <a:buNone/>
            </a:pPr>
            <a:endParaRPr sz="1929" dirty="0"/>
          </a:p>
        </p:txBody>
      </p:sp>
      <p:grpSp>
        <p:nvGrpSpPr>
          <p:cNvPr id="127" name="Google Shape;127;p13"/>
          <p:cNvGrpSpPr/>
          <p:nvPr/>
        </p:nvGrpSpPr>
        <p:grpSpPr>
          <a:xfrm>
            <a:off x="7851875" y="5315884"/>
            <a:ext cx="6446022" cy="3268906"/>
            <a:chOff x="0" y="-28575"/>
            <a:chExt cx="1238881" cy="823174"/>
          </a:xfrm>
        </p:grpSpPr>
        <p:sp>
          <p:nvSpPr>
            <p:cNvPr id="128" name="Google Shape;128;p13"/>
            <p:cNvSpPr/>
            <p:nvPr/>
          </p:nvSpPr>
          <p:spPr>
            <a:xfrm>
              <a:off x="0" y="0"/>
              <a:ext cx="1238881" cy="794599"/>
            </a:xfrm>
            <a:custGeom>
              <a:avLst/>
              <a:gdLst/>
              <a:ahLst/>
              <a:cxnLst/>
              <a:rect l="l" t="t" r="r" b="b"/>
              <a:pathLst>
                <a:path w="1238881" h="794599" extrusionOk="0">
                  <a:moveTo>
                    <a:pt x="16815" y="0"/>
                  </a:moveTo>
                  <a:lnTo>
                    <a:pt x="1222066" y="0"/>
                  </a:lnTo>
                  <a:cubicBezTo>
                    <a:pt x="1226526" y="0"/>
                    <a:pt x="1230803" y="1772"/>
                    <a:pt x="1233956" y="4925"/>
                  </a:cubicBezTo>
                  <a:cubicBezTo>
                    <a:pt x="1237110" y="8078"/>
                    <a:pt x="1238881" y="12355"/>
                    <a:pt x="1238881" y="16815"/>
                  </a:cubicBezTo>
                  <a:lnTo>
                    <a:pt x="1238881" y="777784"/>
                  </a:lnTo>
                  <a:cubicBezTo>
                    <a:pt x="1238881" y="787070"/>
                    <a:pt x="1231353" y="794599"/>
                    <a:pt x="1222066" y="794599"/>
                  </a:cubicBezTo>
                  <a:lnTo>
                    <a:pt x="16815" y="794599"/>
                  </a:lnTo>
                  <a:cubicBezTo>
                    <a:pt x="12355" y="794599"/>
                    <a:pt x="8078" y="792827"/>
                    <a:pt x="4925" y="789674"/>
                  </a:cubicBezTo>
                  <a:cubicBezTo>
                    <a:pt x="1772" y="786520"/>
                    <a:pt x="0" y="782244"/>
                    <a:pt x="0" y="777784"/>
                  </a:cubicBezTo>
                  <a:lnTo>
                    <a:pt x="0" y="16815"/>
                  </a:lnTo>
                  <a:cubicBezTo>
                    <a:pt x="0" y="12355"/>
                    <a:pt x="1772" y="8078"/>
                    <a:pt x="4925" y="4925"/>
                  </a:cubicBezTo>
                  <a:cubicBezTo>
                    <a:pt x="8078" y="1772"/>
                    <a:pt x="12355" y="0"/>
                    <a:pt x="168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3"/>
            <p:cNvSpPr txBox="1"/>
            <p:nvPr/>
          </p:nvSpPr>
          <p:spPr>
            <a:xfrm>
              <a:off x="0" y="-28575"/>
              <a:ext cx="1238881" cy="823174"/>
            </a:xfrm>
            <a:prstGeom prst="rect">
              <a:avLst/>
            </a:prstGeom>
            <a:noFill/>
            <a:ln>
              <a:noFill/>
            </a:ln>
          </p:spPr>
          <p:txBody>
            <a:bodyPr spcFirstLastPara="1" wrap="square" lIns="23325" tIns="23325" rIns="23325" bIns="23325" anchor="ctr" anchorCtr="0">
              <a:noAutofit/>
            </a:bodyPr>
            <a:lstStyle/>
            <a:p>
              <a:pPr marL="0" marR="0" lvl="0" indent="0" algn="l"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0" name="Google Shape;130;p13"/>
          <p:cNvGrpSpPr/>
          <p:nvPr/>
        </p:nvGrpSpPr>
        <p:grpSpPr>
          <a:xfrm>
            <a:off x="7996958" y="4711461"/>
            <a:ext cx="4458936" cy="779259"/>
            <a:chOff x="0" y="-86178"/>
            <a:chExt cx="5945248" cy="1039012"/>
          </a:xfrm>
        </p:grpSpPr>
        <p:grpSp>
          <p:nvGrpSpPr>
            <p:cNvPr id="131" name="Google Shape;131;p13"/>
            <p:cNvGrpSpPr/>
            <p:nvPr/>
          </p:nvGrpSpPr>
          <p:grpSpPr>
            <a:xfrm>
              <a:off x="0" y="-86178"/>
              <a:ext cx="5945248" cy="1039012"/>
              <a:chOff x="0" y="-28575"/>
              <a:chExt cx="1971325" cy="344516"/>
            </a:xfrm>
          </p:grpSpPr>
          <p:sp>
            <p:nvSpPr>
              <p:cNvPr id="132" name="Google Shape;132;p13"/>
              <p:cNvSpPr/>
              <p:nvPr/>
            </p:nvSpPr>
            <p:spPr>
              <a:xfrm>
                <a:off x="0" y="0"/>
                <a:ext cx="1971325" cy="315941"/>
              </a:xfrm>
              <a:custGeom>
                <a:avLst/>
                <a:gdLst/>
                <a:ahLst/>
                <a:cxnLst/>
                <a:rect l="l" t="t" r="r" b="b"/>
                <a:pathLst>
                  <a:path w="1971325" h="315941" extrusionOk="0">
                    <a:moveTo>
                      <a:pt x="52075" y="0"/>
                    </a:moveTo>
                    <a:lnTo>
                      <a:pt x="1919250" y="0"/>
                    </a:lnTo>
                    <a:cubicBezTo>
                      <a:pt x="1948010" y="0"/>
                      <a:pt x="1971325" y="23315"/>
                      <a:pt x="1971325" y="52075"/>
                    </a:cubicBezTo>
                    <a:lnTo>
                      <a:pt x="1971325" y="263865"/>
                    </a:lnTo>
                    <a:cubicBezTo>
                      <a:pt x="1971325" y="277677"/>
                      <a:pt x="1965839" y="290922"/>
                      <a:pt x="1956073" y="300688"/>
                    </a:cubicBezTo>
                    <a:cubicBezTo>
                      <a:pt x="1946307" y="310454"/>
                      <a:pt x="1933061" y="315941"/>
                      <a:pt x="1919250" y="315941"/>
                    </a:cubicBezTo>
                    <a:lnTo>
                      <a:pt x="52075" y="315941"/>
                    </a:lnTo>
                    <a:cubicBezTo>
                      <a:pt x="38264" y="315941"/>
                      <a:pt x="25019" y="310454"/>
                      <a:pt x="15253" y="300688"/>
                    </a:cubicBezTo>
                    <a:cubicBezTo>
                      <a:pt x="5487" y="290922"/>
                      <a:pt x="0" y="277677"/>
                      <a:pt x="0" y="263865"/>
                    </a:cubicBezTo>
                    <a:lnTo>
                      <a:pt x="0" y="52075"/>
                    </a:lnTo>
                    <a:cubicBezTo>
                      <a:pt x="0" y="38264"/>
                      <a:pt x="5487" y="25019"/>
                      <a:pt x="15253" y="15253"/>
                    </a:cubicBezTo>
                    <a:cubicBezTo>
                      <a:pt x="25019" y="5487"/>
                      <a:pt x="38264" y="0"/>
                      <a:pt x="52075" y="0"/>
                    </a:cubicBezTo>
                    <a:close/>
                  </a:path>
                </a:pathLst>
              </a:custGeom>
              <a:solidFill>
                <a:srgbClr val="050A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3"/>
              <p:cNvSpPr txBox="1"/>
              <p:nvPr/>
            </p:nvSpPr>
            <p:spPr>
              <a:xfrm>
                <a:off x="0" y="-28575"/>
                <a:ext cx="1971325" cy="344516"/>
              </a:xfrm>
              <a:prstGeom prst="rect">
                <a:avLst/>
              </a:prstGeom>
              <a:noFill/>
              <a:ln>
                <a:noFill/>
              </a:ln>
            </p:spPr>
            <p:txBody>
              <a:bodyPr spcFirstLastPara="1" wrap="square" lIns="50800" tIns="50800" rIns="50800" bIns="50800" anchor="ctr" anchorCtr="0">
                <a:noAutofit/>
              </a:bodyPr>
              <a:lstStyle/>
              <a:p>
                <a:pPr marL="0" marR="0" lvl="0" indent="0" algn="l"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4" name="Google Shape;134;p13"/>
            <p:cNvGrpSpPr/>
            <p:nvPr/>
          </p:nvGrpSpPr>
          <p:grpSpPr>
            <a:xfrm>
              <a:off x="0" y="-86178"/>
              <a:ext cx="1141924" cy="564125"/>
              <a:chOff x="0" y="-28575"/>
              <a:chExt cx="378639" cy="187053"/>
            </a:xfrm>
          </p:grpSpPr>
          <p:sp>
            <p:nvSpPr>
              <p:cNvPr id="135" name="Google Shape;135;p13"/>
              <p:cNvSpPr/>
              <p:nvPr/>
            </p:nvSpPr>
            <p:spPr>
              <a:xfrm>
                <a:off x="0" y="0"/>
                <a:ext cx="378639" cy="158478"/>
              </a:xfrm>
              <a:custGeom>
                <a:avLst/>
                <a:gdLst/>
                <a:ahLst/>
                <a:cxnLst/>
                <a:rect l="l" t="t" r="r" b="b"/>
                <a:pathLst>
                  <a:path w="378639" h="158478" extrusionOk="0">
                    <a:moveTo>
                      <a:pt x="0" y="0"/>
                    </a:moveTo>
                    <a:lnTo>
                      <a:pt x="378639" y="0"/>
                    </a:lnTo>
                    <a:lnTo>
                      <a:pt x="378639" y="158478"/>
                    </a:lnTo>
                    <a:lnTo>
                      <a:pt x="0" y="158478"/>
                    </a:lnTo>
                    <a:close/>
                  </a:path>
                </a:pathLst>
              </a:custGeom>
              <a:solidFill>
                <a:srgbClr val="050A30"/>
              </a:solidFill>
              <a:ln>
                <a:noFill/>
              </a:ln>
            </p:spPr>
          </p:sp>
          <p:sp>
            <p:nvSpPr>
              <p:cNvPr id="136" name="Google Shape;136;p13"/>
              <p:cNvSpPr txBox="1"/>
              <p:nvPr/>
            </p:nvSpPr>
            <p:spPr>
              <a:xfrm>
                <a:off x="0" y="-28575"/>
                <a:ext cx="378639" cy="187053"/>
              </a:xfrm>
              <a:prstGeom prst="rect">
                <a:avLst/>
              </a:prstGeom>
              <a:noFill/>
              <a:ln>
                <a:noFill/>
              </a:ln>
            </p:spPr>
            <p:txBody>
              <a:bodyPr spcFirstLastPara="1" wrap="square" lIns="50800" tIns="50800" rIns="50800" bIns="50800" anchor="ctr" anchorCtr="0">
                <a:noAutofit/>
              </a:bodyPr>
              <a:lstStyle/>
              <a:p>
                <a:pPr marL="0" marR="0" lvl="0" indent="0" algn="ctr"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7" name="Google Shape;137;p13"/>
            <p:cNvGrpSpPr/>
            <p:nvPr/>
          </p:nvGrpSpPr>
          <p:grpSpPr>
            <a:xfrm>
              <a:off x="4803324" y="337565"/>
              <a:ext cx="1141924" cy="615269"/>
              <a:chOff x="0" y="-28575"/>
              <a:chExt cx="378639" cy="204011"/>
            </a:xfrm>
          </p:grpSpPr>
          <p:sp>
            <p:nvSpPr>
              <p:cNvPr id="138" name="Google Shape;138;p13"/>
              <p:cNvSpPr/>
              <p:nvPr/>
            </p:nvSpPr>
            <p:spPr>
              <a:xfrm>
                <a:off x="0" y="0"/>
                <a:ext cx="378639" cy="175436"/>
              </a:xfrm>
              <a:custGeom>
                <a:avLst/>
                <a:gdLst/>
                <a:ahLst/>
                <a:cxnLst/>
                <a:rect l="l" t="t" r="r" b="b"/>
                <a:pathLst>
                  <a:path w="378639" h="175436" extrusionOk="0">
                    <a:moveTo>
                      <a:pt x="0" y="0"/>
                    </a:moveTo>
                    <a:lnTo>
                      <a:pt x="378639" y="0"/>
                    </a:lnTo>
                    <a:lnTo>
                      <a:pt x="378639" y="175436"/>
                    </a:lnTo>
                    <a:lnTo>
                      <a:pt x="0" y="175436"/>
                    </a:lnTo>
                    <a:close/>
                  </a:path>
                </a:pathLst>
              </a:custGeom>
              <a:solidFill>
                <a:srgbClr val="050A30"/>
              </a:solidFill>
              <a:ln>
                <a:noFill/>
              </a:ln>
            </p:spPr>
          </p:sp>
          <p:sp>
            <p:nvSpPr>
              <p:cNvPr id="139" name="Google Shape;139;p13"/>
              <p:cNvSpPr txBox="1"/>
              <p:nvPr/>
            </p:nvSpPr>
            <p:spPr>
              <a:xfrm>
                <a:off x="0" y="-28575"/>
                <a:ext cx="378639" cy="204011"/>
              </a:xfrm>
              <a:prstGeom prst="rect">
                <a:avLst/>
              </a:prstGeom>
              <a:noFill/>
              <a:ln>
                <a:noFill/>
              </a:ln>
            </p:spPr>
            <p:txBody>
              <a:bodyPr spcFirstLastPara="1" wrap="square" lIns="50800" tIns="50800" rIns="50800" bIns="50800" anchor="ctr" anchorCtr="0">
                <a:noAutofit/>
              </a:bodyPr>
              <a:lstStyle/>
              <a:p>
                <a:pPr marL="0" marR="0" lvl="0" indent="0" algn="ctr"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40" name="Google Shape;140;p13"/>
          <p:cNvSpPr txBox="1"/>
          <p:nvPr/>
        </p:nvSpPr>
        <p:spPr>
          <a:xfrm>
            <a:off x="8086607" y="4852173"/>
            <a:ext cx="4240800" cy="505200"/>
          </a:xfrm>
          <a:prstGeom prst="rect">
            <a:avLst/>
          </a:prstGeom>
          <a:noFill/>
          <a:ln>
            <a:noFill/>
          </a:ln>
        </p:spPr>
        <p:txBody>
          <a:bodyPr spcFirstLastPara="1" wrap="square" lIns="0" tIns="0" rIns="0" bIns="0" anchor="t" anchorCtr="0">
            <a:spAutoFit/>
          </a:bodyPr>
          <a:lstStyle/>
          <a:p>
            <a:pPr marL="0" marR="0" lvl="0" indent="0" algn="ctr" rtl="0">
              <a:lnSpc>
                <a:spcPct val="139993"/>
              </a:lnSpc>
              <a:spcBef>
                <a:spcPts val="0"/>
              </a:spcBef>
              <a:spcAft>
                <a:spcPts val="0"/>
              </a:spcAft>
              <a:buNone/>
            </a:pPr>
            <a:r>
              <a:rPr lang="en-US" sz="2983" b="0" i="0" u="none" strike="noStrike" cap="none" dirty="0">
                <a:solidFill>
                  <a:srgbClr val="FFFFFF"/>
                </a:solidFill>
                <a:latin typeface="Arial"/>
                <a:ea typeface="Arial"/>
                <a:cs typeface="Arial"/>
                <a:sym typeface="Arial"/>
              </a:rPr>
              <a:t>RESULTS</a:t>
            </a:r>
            <a:endParaRPr dirty="0"/>
          </a:p>
        </p:txBody>
      </p:sp>
      <p:sp>
        <p:nvSpPr>
          <p:cNvPr id="141" name="Google Shape;141;p13"/>
          <p:cNvSpPr txBox="1"/>
          <p:nvPr/>
        </p:nvSpPr>
        <p:spPr>
          <a:xfrm>
            <a:off x="8112038" y="5537644"/>
            <a:ext cx="5982300" cy="2973122"/>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800" dirty="0">
                <a:solidFill>
                  <a:srgbClr val="111111"/>
                </a:solidFill>
                <a:highlight>
                  <a:srgbClr val="FFFFFF"/>
                </a:highlight>
              </a:rPr>
              <a:t>Particle detectors measure fundamental properties through precise interactions. The magnetic field bends charged particle tracks, where a tightly curved track indicates low momentum according to the formula p = 0.3·B·r (p in GeV/c, B in Tesla, r in meters). Particles deposit energy in calorimeters - for example, a 10 GeV electron creates a large shower in the EM calorimeter, measured through light yield in crystals or ionization in liquid argon. Charge - </a:t>
            </a:r>
            <a:r>
              <a:rPr lang="en-US" sz="1800" dirty="0">
                <a:solidFill>
                  <a:schemeClr val="dk1"/>
                </a:solidFill>
              </a:rPr>
              <a:t>track → detector hit - </a:t>
            </a:r>
            <a:r>
              <a:rPr lang="en-US" sz="1800" dirty="0"/>
              <a:t>signal processing.</a:t>
            </a:r>
            <a:endParaRPr sz="1800" i="0" u="none" strike="noStrike" cap="none" dirty="0">
              <a:solidFill>
                <a:srgbClr val="FF0000"/>
              </a:solidFill>
            </a:endParaRPr>
          </a:p>
        </p:txBody>
      </p:sp>
      <p:grpSp>
        <p:nvGrpSpPr>
          <p:cNvPr id="142" name="Google Shape;142;p13"/>
          <p:cNvGrpSpPr/>
          <p:nvPr/>
        </p:nvGrpSpPr>
        <p:grpSpPr>
          <a:xfrm>
            <a:off x="7794570" y="9735339"/>
            <a:ext cx="5982183" cy="1634613"/>
            <a:chOff x="0" y="-28575"/>
            <a:chExt cx="1299373" cy="472186"/>
          </a:xfrm>
        </p:grpSpPr>
        <p:sp>
          <p:nvSpPr>
            <p:cNvPr id="143" name="Google Shape;143;p13"/>
            <p:cNvSpPr/>
            <p:nvPr/>
          </p:nvSpPr>
          <p:spPr>
            <a:xfrm>
              <a:off x="0" y="0"/>
              <a:ext cx="1299373" cy="443611"/>
            </a:xfrm>
            <a:custGeom>
              <a:avLst/>
              <a:gdLst/>
              <a:ahLst/>
              <a:cxnLst/>
              <a:rect l="l" t="t" r="r" b="b"/>
              <a:pathLst>
                <a:path w="1299373" h="443611" extrusionOk="0">
                  <a:moveTo>
                    <a:pt x="16032" y="0"/>
                  </a:moveTo>
                  <a:lnTo>
                    <a:pt x="1283341" y="0"/>
                  </a:lnTo>
                  <a:cubicBezTo>
                    <a:pt x="1292195" y="0"/>
                    <a:pt x="1299373" y="7178"/>
                    <a:pt x="1299373" y="16032"/>
                  </a:cubicBezTo>
                  <a:lnTo>
                    <a:pt x="1299373" y="427579"/>
                  </a:lnTo>
                  <a:cubicBezTo>
                    <a:pt x="1299373" y="436433"/>
                    <a:pt x="1292195" y="443611"/>
                    <a:pt x="1283341" y="443611"/>
                  </a:cubicBezTo>
                  <a:lnTo>
                    <a:pt x="16032" y="443611"/>
                  </a:lnTo>
                  <a:cubicBezTo>
                    <a:pt x="7178" y="443611"/>
                    <a:pt x="0" y="436433"/>
                    <a:pt x="0" y="427579"/>
                  </a:cubicBezTo>
                  <a:lnTo>
                    <a:pt x="0" y="16032"/>
                  </a:lnTo>
                  <a:cubicBezTo>
                    <a:pt x="0" y="7178"/>
                    <a:pt x="7178" y="0"/>
                    <a:pt x="1603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3"/>
            <p:cNvSpPr txBox="1"/>
            <p:nvPr/>
          </p:nvSpPr>
          <p:spPr>
            <a:xfrm>
              <a:off x="0" y="-28575"/>
              <a:ext cx="1299373" cy="472186"/>
            </a:xfrm>
            <a:prstGeom prst="rect">
              <a:avLst/>
            </a:prstGeom>
            <a:noFill/>
            <a:ln>
              <a:noFill/>
            </a:ln>
          </p:spPr>
          <p:txBody>
            <a:bodyPr spcFirstLastPara="1" wrap="square" lIns="23325" tIns="23325" rIns="23325" bIns="23325" anchor="ctr" anchorCtr="0">
              <a:noAutofit/>
            </a:bodyPr>
            <a:lstStyle/>
            <a:p>
              <a:pPr marL="0" marR="0" lvl="0" indent="0" algn="l"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5" name="Google Shape;145;p13"/>
          <p:cNvGrpSpPr/>
          <p:nvPr/>
        </p:nvGrpSpPr>
        <p:grpSpPr>
          <a:xfrm>
            <a:off x="7844746" y="9170890"/>
            <a:ext cx="4458936" cy="779259"/>
            <a:chOff x="0" y="-86178"/>
            <a:chExt cx="5945248" cy="1039012"/>
          </a:xfrm>
        </p:grpSpPr>
        <p:grpSp>
          <p:nvGrpSpPr>
            <p:cNvPr id="146" name="Google Shape;146;p13"/>
            <p:cNvGrpSpPr/>
            <p:nvPr/>
          </p:nvGrpSpPr>
          <p:grpSpPr>
            <a:xfrm>
              <a:off x="0" y="-86178"/>
              <a:ext cx="5945248" cy="1039012"/>
              <a:chOff x="0" y="-28575"/>
              <a:chExt cx="1971325" cy="344516"/>
            </a:xfrm>
          </p:grpSpPr>
          <p:sp>
            <p:nvSpPr>
              <p:cNvPr id="147" name="Google Shape;147;p13"/>
              <p:cNvSpPr/>
              <p:nvPr/>
            </p:nvSpPr>
            <p:spPr>
              <a:xfrm>
                <a:off x="0" y="0"/>
                <a:ext cx="1971325" cy="315941"/>
              </a:xfrm>
              <a:custGeom>
                <a:avLst/>
                <a:gdLst/>
                <a:ahLst/>
                <a:cxnLst/>
                <a:rect l="l" t="t" r="r" b="b"/>
                <a:pathLst>
                  <a:path w="1971325" h="315941" extrusionOk="0">
                    <a:moveTo>
                      <a:pt x="52075" y="0"/>
                    </a:moveTo>
                    <a:lnTo>
                      <a:pt x="1919250" y="0"/>
                    </a:lnTo>
                    <a:cubicBezTo>
                      <a:pt x="1948010" y="0"/>
                      <a:pt x="1971325" y="23315"/>
                      <a:pt x="1971325" y="52075"/>
                    </a:cubicBezTo>
                    <a:lnTo>
                      <a:pt x="1971325" y="263865"/>
                    </a:lnTo>
                    <a:cubicBezTo>
                      <a:pt x="1971325" y="277677"/>
                      <a:pt x="1965839" y="290922"/>
                      <a:pt x="1956073" y="300688"/>
                    </a:cubicBezTo>
                    <a:cubicBezTo>
                      <a:pt x="1946307" y="310454"/>
                      <a:pt x="1933061" y="315941"/>
                      <a:pt x="1919250" y="315941"/>
                    </a:cubicBezTo>
                    <a:lnTo>
                      <a:pt x="52075" y="315941"/>
                    </a:lnTo>
                    <a:cubicBezTo>
                      <a:pt x="38264" y="315941"/>
                      <a:pt x="25019" y="310454"/>
                      <a:pt x="15253" y="300688"/>
                    </a:cubicBezTo>
                    <a:cubicBezTo>
                      <a:pt x="5487" y="290922"/>
                      <a:pt x="0" y="277677"/>
                      <a:pt x="0" y="263865"/>
                    </a:cubicBezTo>
                    <a:lnTo>
                      <a:pt x="0" y="52075"/>
                    </a:lnTo>
                    <a:cubicBezTo>
                      <a:pt x="0" y="38264"/>
                      <a:pt x="5487" y="25019"/>
                      <a:pt x="15253" y="15253"/>
                    </a:cubicBezTo>
                    <a:cubicBezTo>
                      <a:pt x="25019" y="5487"/>
                      <a:pt x="38264" y="0"/>
                      <a:pt x="52075" y="0"/>
                    </a:cubicBezTo>
                    <a:close/>
                  </a:path>
                </a:pathLst>
              </a:custGeom>
              <a:solidFill>
                <a:srgbClr val="050A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3"/>
              <p:cNvSpPr txBox="1"/>
              <p:nvPr/>
            </p:nvSpPr>
            <p:spPr>
              <a:xfrm>
                <a:off x="0" y="-28575"/>
                <a:ext cx="1971325" cy="344516"/>
              </a:xfrm>
              <a:prstGeom prst="rect">
                <a:avLst/>
              </a:prstGeom>
              <a:noFill/>
              <a:ln>
                <a:noFill/>
              </a:ln>
            </p:spPr>
            <p:txBody>
              <a:bodyPr spcFirstLastPara="1" wrap="square" lIns="50800" tIns="50800" rIns="50800" bIns="50800" anchor="ctr" anchorCtr="0">
                <a:noAutofit/>
              </a:bodyPr>
              <a:lstStyle/>
              <a:p>
                <a:pPr marL="0" marR="0" lvl="0" indent="0" algn="l"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9" name="Google Shape;149;p13"/>
            <p:cNvGrpSpPr/>
            <p:nvPr/>
          </p:nvGrpSpPr>
          <p:grpSpPr>
            <a:xfrm>
              <a:off x="0" y="-86178"/>
              <a:ext cx="1141924" cy="564125"/>
              <a:chOff x="0" y="-28575"/>
              <a:chExt cx="378639" cy="187053"/>
            </a:xfrm>
          </p:grpSpPr>
          <p:sp>
            <p:nvSpPr>
              <p:cNvPr id="150" name="Google Shape;150;p13"/>
              <p:cNvSpPr/>
              <p:nvPr/>
            </p:nvSpPr>
            <p:spPr>
              <a:xfrm>
                <a:off x="0" y="0"/>
                <a:ext cx="378639" cy="158478"/>
              </a:xfrm>
              <a:custGeom>
                <a:avLst/>
                <a:gdLst/>
                <a:ahLst/>
                <a:cxnLst/>
                <a:rect l="l" t="t" r="r" b="b"/>
                <a:pathLst>
                  <a:path w="378639" h="158478" extrusionOk="0">
                    <a:moveTo>
                      <a:pt x="0" y="0"/>
                    </a:moveTo>
                    <a:lnTo>
                      <a:pt x="378639" y="0"/>
                    </a:lnTo>
                    <a:lnTo>
                      <a:pt x="378639" y="158478"/>
                    </a:lnTo>
                    <a:lnTo>
                      <a:pt x="0" y="158478"/>
                    </a:lnTo>
                    <a:close/>
                  </a:path>
                </a:pathLst>
              </a:custGeom>
              <a:solidFill>
                <a:srgbClr val="050A30"/>
              </a:solidFill>
              <a:ln>
                <a:noFill/>
              </a:ln>
            </p:spPr>
          </p:sp>
          <p:sp>
            <p:nvSpPr>
              <p:cNvPr id="151" name="Google Shape;151;p13"/>
              <p:cNvSpPr txBox="1"/>
              <p:nvPr/>
            </p:nvSpPr>
            <p:spPr>
              <a:xfrm>
                <a:off x="0" y="-28575"/>
                <a:ext cx="378639" cy="187053"/>
              </a:xfrm>
              <a:prstGeom prst="rect">
                <a:avLst/>
              </a:prstGeom>
              <a:noFill/>
              <a:ln>
                <a:noFill/>
              </a:ln>
            </p:spPr>
            <p:txBody>
              <a:bodyPr spcFirstLastPara="1" wrap="square" lIns="50800" tIns="50800" rIns="50800" bIns="50800" anchor="ctr" anchorCtr="0">
                <a:noAutofit/>
              </a:bodyPr>
              <a:lstStyle/>
              <a:p>
                <a:pPr marL="0" marR="0" lvl="0" indent="0" algn="ctr"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2" name="Google Shape;152;p13"/>
            <p:cNvGrpSpPr/>
            <p:nvPr/>
          </p:nvGrpSpPr>
          <p:grpSpPr>
            <a:xfrm>
              <a:off x="4803324" y="337565"/>
              <a:ext cx="1141924" cy="615269"/>
              <a:chOff x="0" y="-28575"/>
              <a:chExt cx="378639" cy="204011"/>
            </a:xfrm>
          </p:grpSpPr>
          <p:sp>
            <p:nvSpPr>
              <p:cNvPr id="153" name="Google Shape;153;p13"/>
              <p:cNvSpPr/>
              <p:nvPr/>
            </p:nvSpPr>
            <p:spPr>
              <a:xfrm>
                <a:off x="0" y="0"/>
                <a:ext cx="378639" cy="175436"/>
              </a:xfrm>
              <a:custGeom>
                <a:avLst/>
                <a:gdLst/>
                <a:ahLst/>
                <a:cxnLst/>
                <a:rect l="l" t="t" r="r" b="b"/>
                <a:pathLst>
                  <a:path w="378639" h="175436" extrusionOk="0">
                    <a:moveTo>
                      <a:pt x="0" y="0"/>
                    </a:moveTo>
                    <a:lnTo>
                      <a:pt x="378639" y="0"/>
                    </a:lnTo>
                    <a:lnTo>
                      <a:pt x="378639" y="175436"/>
                    </a:lnTo>
                    <a:lnTo>
                      <a:pt x="0" y="175436"/>
                    </a:lnTo>
                    <a:close/>
                  </a:path>
                </a:pathLst>
              </a:custGeom>
              <a:solidFill>
                <a:srgbClr val="050A30"/>
              </a:solidFill>
              <a:ln>
                <a:noFill/>
              </a:ln>
            </p:spPr>
          </p:sp>
          <p:sp>
            <p:nvSpPr>
              <p:cNvPr id="154" name="Google Shape;154;p13"/>
              <p:cNvSpPr txBox="1"/>
              <p:nvPr/>
            </p:nvSpPr>
            <p:spPr>
              <a:xfrm>
                <a:off x="0" y="-28575"/>
                <a:ext cx="378639" cy="204011"/>
              </a:xfrm>
              <a:prstGeom prst="rect">
                <a:avLst/>
              </a:prstGeom>
              <a:noFill/>
              <a:ln>
                <a:noFill/>
              </a:ln>
            </p:spPr>
            <p:txBody>
              <a:bodyPr spcFirstLastPara="1" wrap="square" lIns="50800" tIns="50800" rIns="50800" bIns="50800" anchor="ctr" anchorCtr="0">
                <a:noAutofit/>
              </a:bodyPr>
              <a:lstStyle/>
              <a:p>
                <a:pPr marL="0" marR="0" lvl="0" indent="0" algn="ctr"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55" name="Google Shape;155;p13"/>
          <p:cNvSpPr txBox="1"/>
          <p:nvPr/>
        </p:nvSpPr>
        <p:spPr>
          <a:xfrm>
            <a:off x="7934396" y="9311603"/>
            <a:ext cx="4240800" cy="505200"/>
          </a:xfrm>
          <a:prstGeom prst="rect">
            <a:avLst/>
          </a:prstGeom>
          <a:noFill/>
          <a:ln>
            <a:noFill/>
          </a:ln>
        </p:spPr>
        <p:txBody>
          <a:bodyPr spcFirstLastPara="1" wrap="square" lIns="0" tIns="0" rIns="0" bIns="0" anchor="t" anchorCtr="0">
            <a:spAutoFit/>
          </a:bodyPr>
          <a:lstStyle/>
          <a:p>
            <a:pPr marL="0" marR="0" lvl="0" indent="0" algn="ctr" rtl="0">
              <a:lnSpc>
                <a:spcPct val="139993"/>
              </a:lnSpc>
              <a:spcBef>
                <a:spcPts val="0"/>
              </a:spcBef>
              <a:spcAft>
                <a:spcPts val="0"/>
              </a:spcAft>
              <a:buNone/>
            </a:pPr>
            <a:r>
              <a:rPr lang="en-US" sz="2983" b="0" i="0" u="none" strike="noStrike" cap="none" dirty="0">
                <a:solidFill>
                  <a:srgbClr val="FFFFFF"/>
                </a:solidFill>
                <a:latin typeface="Arial"/>
                <a:ea typeface="Arial"/>
                <a:cs typeface="Arial"/>
                <a:sym typeface="Arial"/>
              </a:rPr>
              <a:t>CONCLUSION</a:t>
            </a:r>
            <a:endParaRPr dirty="0"/>
          </a:p>
        </p:txBody>
      </p:sp>
      <p:sp>
        <p:nvSpPr>
          <p:cNvPr id="171" name="Google Shape;171;p13"/>
          <p:cNvSpPr txBox="1"/>
          <p:nvPr/>
        </p:nvSpPr>
        <p:spPr>
          <a:xfrm>
            <a:off x="1126571" y="3500113"/>
            <a:ext cx="1074600" cy="297000"/>
          </a:xfrm>
          <a:prstGeom prst="rect">
            <a:avLst/>
          </a:prstGeom>
          <a:noFill/>
          <a:ln>
            <a:noFill/>
          </a:ln>
        </p:spPr>
        <p:txBody>
          <a:bodyPr spcFirstLastPara="1" wrap="square" lIns="0" tIns="0" rIns="0" bIns="0" anchor="t" anchorCtr="0">
            <a:spAutoFit/>
          </a:bodyPr>
          <a:lstStyle/>
          <a:p>
            <a:pPr marL="0" marR="0" lvl="0" indent="0" algn="l" rtl="0">
              <a:lnSpc>
                <a:spcPct val="139968"/>
              </a:lnSpc>
              <a:spcBef>
                <a:spcPts val="0"/>
              </a:spcBef>
              <a:spcAft>
                <a:spcPts val="0"/>
              </a:spcAft>
              <a:buNone/>
            </a:pPr>
            <a:r>
              <a:rPr lang="en-US" sz="1929" b="0" i="0" u="none" strike="noStrike" cap="none">
                <a:solidFill>
                  <a:srgbClr val="000000"/>
                </a:solidFill>
                <a:latin typeface="Arial"/>
                <a:ea typeface="Arial"/>
                <a:cs typeface="Arial"/>
                <a:sym typeface="Arial"/>
              </a:rPr>
              <a:t>Group </a:t>
            </a:r>
            <a:r>
              <a:rPr lang="en-US" sz="1929"/>
              <a:t>2</a:t>
            </a:r>
            <a:endParaRPr sz="1929" b="0" i="0" u="none" strike="noStrike" cap="none">
              <a:solidFill>
                <a:srgbClr val="000000"/>
              </a:solidFill>
              <a:latin typeface="Arial"/>
              <a:ea typeface="Arial"/>
              <a:cs typeface="Arial"/>
              <a:sym typeface="Arial"/>
            </a:endParaRPr>
          </a:p>
        </p:txBody>
      </p:sp>
      <p:sp>
        <p:nvSpPr>
          <p:cNvPr id="172" name="Google Shape;172;p13"/>
          <p:cNvSpPr txBox="1"/>
          <p:nvPr/>
        </p:nvSpPr>
        <p:spPr>
          <a:xfrm>
            <a:off x="9637095" y="3230339"/>
            <a:ext cx="4446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Laboratory of Data Analysis for High Energy Physics, Tomsk State University</a:t>
            </a:r>
            <a:endParaRPr sz="1800" b="0" i="0" u="none" strike="noStrike" cap="none">
              <a:solidFill>
                <a:schemeClr val="dk1"/>
              </a:solidFill>
              <a:latin typeface="Calibri"/>
              <a:ea typeface="Calibri"/>
              <a:cs typeface="Calibri"/>
              <a:sym typeface="Calibri"/>
            </a:endParaRPr>
          </a:p>
        </p:txBody>
      </p:sp>
      <p:sp>
        <p:nvSpPr>
          <p:cNvPr id="173" name="Google Shape;173;p13"/>
          <p:cNvSpPr txBox="1"/>
          <p:nvPr/>
        </p:nvSpPr>
        <p:spPr>
          <a:xfrm>
            <a:off x="4486873" y="20489424"/>
            <a:ext cx="6139200" cy="297000"/>
          </a:xfrm>
          <a:prstGeom prst="rect">
            <a:avLst/>
          </a:prstGeom>
          <a:noFill/>
          <a:ln>
            <a:noFill/>
          </a:ln>
        </p:spPr>
        <p:txBody>
          <a:bodyPr spcFirstLastPara="1" wrap="square" lIns="0" tIns="0" rIns="0" bIns="0" anchor="t" anchorCtr="0">
            <a:spAutoFit/>
          </a:bodyPr>
          <a:lstStyle/>
          <a:p>
            <a:pPr marL="0" marR="0" lvl="0" indent="0" algn="ctr" rtl="0">
              <a:lnSpc>
                <a:spcPct val="139968"/>
              </a:lnSpc>
              <a:spcBef>
                <a:spcPts val="0"/>
              </a:spcBef>
              <a:spcAft>
                <a:spcPts val="0"/>
              </a:spcAft>
              <a:buNone/>
            </a:pPr>
            <a:r>
              <a:rPr lang="en-US" sz="1929" b="0" i="0" u="none" strike="noStrike" cap="none">
                <a:solidFill>
                  <a:srgbClr val="000000"/>
                </a:solidFill>
                <a:latin typeface="Arial"/>
                <a:ea typeface="Arial"/>
                <a:cs typeface="Arial"/>
                <a:sym typeface="Arial"/>
              </a:rPr>
              <a:t>Email: </a:t>
            </a:r>
            <a:r>
              <a:rPr lang="en-US" sz="1929"/>
              <a:t>vbelanovich15@gmail.com</a:t>
            </a:r>
            <a:endParaRPr sz="1929" b="0" i="0" u="none" strike="noStrike" cap="none">
              <a:solidFill>
                <a:srgbClr val="000000"/>
              </a:solidFill>
              <a:latin typeface="Arial"/>
              <a:ea typeface="Arial"/>
              <a:cs typeface="Arial"/>
              <a:sym typeface="Arial"/>
            </a:endParaRPr>
          </a:p>
        </p:txBody>
      </p:sp>
      <p:pic>
        <p:nvPicPr>
          <p:cNvPr id="174" name="Google Shape;174;p13"/>
          <p:cNvPicPr preferRelativeResize="0"/>
          <p:nvPr/>
        </p:nvPicPr>
        <p:blipFill rotWithShape="1">
          <a:blip r:embed="rId4">
            <a:alphaModFix/>
          </a:blip>
          <a:srcRect b="88435"/>
          <a:stretch/>
        </p:blipFill>
        <p:spPr>
          <a:xfrm>
            <a:off x="193821" y="553796"/>
            <a:ext cx="14406099" cy="2384429"/>
          </a:xfrm>
          <a:prstGeom prst="rect">
            <a:avLst/>
          </a:prstGeom>
          <a:noFill/>
          <a:ln>
            <a:noFill/>
          </a:ln>
        </p:spPr>
      </p:pic>
      <p:sp>
        <p:nvSpPr>
          <p:cNvPr id="175" name="Google Shape;175;p13"/>
          <p:cNvSpPr txBox="1"/>
          <p:nvPr/>
        </p:nvSpPr>
        <p:spPr>
          <a:xfrm>
            <a:off x="1732978" y="692072"/>
            <a:ext cx="12630600" cy="1847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0" i="0" u="none" strike="noStrike" cap="none">
                <a:solidFill>
                  <a:srgbClr val="FFFFFF"/>
                </a:solidFill>
                <a:latin typeface="Arial"/>
                <a:ea typeface="Arial"/>
                <a:cs typeface="Arial"/>
                <a:sym typeface="Arial"/>
              </a:rPr>
              <a:t>High-Energy Physics: </a:t>
            </a:r>
            <a:br>
              <a:rPr lang="en-US" sz="6000" b="0" i="0" u="none" strike="noStrike" cap="none">
                <a:solidFill>
                  <a:srgbClr val="FFFFFF"/>
                </a:solidFill>
                <a:latin typeface="Arial"/>
                <a:ea typeface="Arial"/>
                <a:cs typeface="Arial"/>
                <a:sym typeface="Arial"/>
              </a:rPr>
            </a:br>
            <a:r>
              <a:rPr lang="en-US" sz="6000">
                <a:solidFill>
                  <a:srgbClr val="FFFFFF"/>
                </a:solidFill>
              </a:rPr>
              <a:t>Detectors</a:t>
            </a:r>
            <a:endParaRPr sz="6000" b="0" i="0" u="none" strike="noStrike" cap="none">
              <a:solidFill>
                <a:srgbClr val="FFFFFF"/>
              </a:solidFill>
              <a:latin typeface="Arial"/>
              <a:ea typeface="Arial"/>
              <a:cs typeface="Arial"/>
              <a:sym typeface="Arial"/>
            </a:endParaRPr>
          </a:p>
        </p:txBody>
      </p:sp>
      <p:sp>
        <p:nvSpPr>
          <p:cNvPr id="176" name="Google Shape;176;p13"/>
          <p:cNvSpPr txBox="1"/>
          <p:nvPr/>
        </p:nvSpPr>
        <p:spPr>
          <a:xfrm>
            <a:off x="2240267" y="2912508"/>
            <a:ext cx="2740500" cy="1212768"/>
          </a:xfrm>
          <a:prstGeom prst="rect">
            <a:avLst/>
          </a:prstGeom>
          <a:noFill/>
          <a:ln>
            <a:noFill/>
          </a:ln>
        </p:spPr>
        <p:txBody>
          <a:bodyPr spcFirstLastPara="1" wrap="square" lIns="0" tIns="0" rIns="0" bIns="0" anchor="t" anchorCtr="0">
            <a:spAutoFit/>
          </a:bodyPr>
          <a:lstStyle/>
          <a:p>
            <a:pPr>
              <a:lnSpc>
                <a:spcPct val="139968"/>
              </a:lnSpc>
            </a:pPr>
            <a:r>
              <a:rPr lang="en-US" sz="1800" dirty="0">
                <a:solidFill>
                  <a:srgbClr val="111111"/>
                </a:solidFill>
                <a:highlight>
                  <a:schemeClr val="lt1"/>
                </a:highlight>
              </a:rPr>
              <a:t>Belanovich V.</a:t>
            </a:r>
            <a:endParaRPr lang="ru-RU" sz="1829" dirty="0"/>
          </a:p>
          <a:p>
            <a:pPr marL="0" marR="0" lvl="0" indent="0" algn="l" rtl="0">
              <a:lnSpc>
                <a:spcPct val="139968"/>
              </a:lnSpc>
              <a:spcBef>
                <a:spcPts val="0"/>
              </a:spcBef>
              <a:spcAft>
                <a:spcPts val="0"/>
              </a:spcAft>
              <a:buNone/>
            </a:pPr>
            <a:r>
              <a:rPr lang="en-US" sz="1829" dirty="0" err="1"/>
              <a:t>Pankov</a:t>
            </a:r>
            <a:r>
              <a:rPr lang="en-US" sz="1829" dirty="0"/>
              <a:t> D.</a:t>
            </a:r>
            <a:br>
              <a:rPr lang="en-US" sz="1829" i="0" u="none" strike="noStrike" cap="none" dirty="0">
                <a:solidFill>
                  <a:srgbClr val="000000"/>
                </a:solidFill>
              </a:rPr>
            </a:br>
            <a:r>
              <a:rPr lang="en-US" sz="2000" dirty="0" err="1">
                <a:solidFill>
                  <a:srgbClr val="111111"/>
                </a:solidFill>
                <a:highlight>
                  <a:schemeClr val="lt1"/>
                </a:highlight>
              </a:rPr>
              <a:t>Namdag</a:t>
            </a:r>
            <a:endParaRPr sz="1829" i="0" u="none" strike="noStrike" cap="none" dirty="0">
              <a:solidFill>
                <a:srgbClr val="000000"/>
              </a:solidFill>
              <a:highlight>
                <a:schemeClr val="lt1"/>
              </a:highlight>
            </a:endParaRPr>
          </a:p>
        </p:txBody>
      </p:sp>
      <p:grpSp>
        <p:nvGrpSpPr>
          <p:cNvPr id="177" name="Google Shape;177;p13"/>
          <p:cNvGrpSpPr/>
          <p:nvPr/>
        </p:nvGrpSpPr>
        <p:grpSpPr>
          <a:xfrm>
            <a:off x="1000833" y="4570287"/>
            <a:ext cx="4458936" cy="779259"/>
            <a:chOff x="0" y="-86178"/>
            <a:chExt cx="5945248" cy="1039012"/>
          </a:xfrm>
        </p:grpSpPr>
        <p:grpSp>
          <p:nvGrpSpPr>
            <p:cNvPr id="178" name="Google Shape;178;p13"/>
            <p:cNvGrpSpPr/>
            <p:nvPr/>
          </p:nvGrpSpPr>
          <p:grpSpPr>
            <a:xfrm>
              <a:off x="0" y="-86178"/>
              <a:ext cx="5945248" cy="1039012"/>
              <a:chOff x="0" y="-28575"/>
              <a:chExt cx="1971325" cy="344516"/>
            </a:xfrm>
          </p:grpSpPr>
          <p:sp>
            <p:nvSpPr>
              <p:cNvPr id="179" name="Google Shape;179;p13"/>
              <p:cNvSpPr/>
              <p:nvPr/>
            </p:nvSpPr>
            <p:spPr>
              <a:xfrm>
                <a:off x="0" y="0"/>
                <a:ext cx="1971325" cy="315941"/>
              </a:xfrm>
              <a:custGeom>
                <a:avLst/>
                <a:gdLst/>
                <a:ahLst/>
                <a:cxnLst/>
                <a:rect l="l" t="t" r="r" b="b"/>
                <a:pathLst>
                  <a:path w="1971325" h="315941" extrusionOk="0">
                    <a:moveTo>
                      <a:pt x="52075" y="0"/>
                    </a:moveTo>
                    <a:lnTo>
                      <a:pt x="1919250" y="0"/>
                    </a:lnTo>
                    <a:cubicBezTo>
                      <a:pt x="1948010" y="0"/>
                      <a:pt x="1971325" y="23315"/>
                      <a:pt x="1971325" y="52075"/>
                    </a:cubicBezTo>
                    <a:lnTo>
                      <a:pt x="1971325" y="263865"/>
                    </a:lnTo>
                    <a:cubicBezTo>
                      <a:pt x="1971325" y="277677"/>
                      <a:pt x="1965839" y="290922"/>
                      <a:pt x="1956073" y="300688"/>
                    </a:cubicBezTo>
                    <a:cubicBezTo>
                      <a:pt x="1946307" y="310454"/>
                      <a:pt x="1933061" y="315941"/>
                      <a:pt x="1919250" y="315941"/>
                    </a:cubicBezTo>
                    <a:lnTo>
                      <a:pt x="52075" y="315941"/>
                    </a:lnTo>
                    <a:cubicBezTo>
                      <a:pt x="38264" y="315941"/>
                      <a:pt x="25019" y="310454"/>
                      <a:pt x="15253" y="300688"/>
                    </a:cubicBezTo>
                    <a:cubicBezTo>
                      <a:pt x="5487" y="290922"/>
                      <a:pt x="0" y="277677"/>
                      <a:pt x="0" y="263865"/>
                    </a:cubicBezTo>
                    <a:lnTo>
                      <a:pt x="0" y="52075"/>
                    </a:lnTo>
                    <a:cubicBezTo>
                      <a:pt x="0" y="38264"/>
                      <a:pt x="5487" y="25019"/>
                      <a:pt x="15253" y="15253"/>
                    </a:cubicBezTo>
                    <a:cubicBezTo>
                      <a:pt x="25019" y="5487"/>
                      <a:pt x="38264" y="0"/>
                      <a:pt x="52075" y="0"/>
                    </a:cubicBezTo>
                    <a:close/>
                  </a:path>
                </a:pathLst>
              </a:custGeom>
              <a:solidFill>
                <a:srgbClr val="050A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3"/>
              <p:cNvSpPr txBox="1"/>
              <p:nvPr/>
            </p:nvSpPr>
            <p:spPr>
              <a:xfrm>
                <a:off x="0" y="-28575"/>
                <a:ext cx="1971325" cy="344516"/>
              </a:xfrm>
              <a:prstGeom prst="rect">
                <a:avLst/>
              </a:prstGeom>
              <a:noFill/>
              <a:ln>
                <a:noFill/>
              </a:ln>
            </p:spPr>
            <p:txBody>
              <a:bodyPr spcFirstLastPara="1" wrap="square" lIns="50800" tIns="50800" rIns="50800" bIns="50800" anchor="ctr" anchorCtr="0">
                <a:noAutofit/>
              </a:bodyPr>
              <a:lstStyle/>
              <a:p>
                <a:pPr marL="0" marR="0" lvl="0" indent="0" algn="l"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1" name="Google Shape;181;p13"/>
            <p:cNvGrpSpPr/>
            <p:nvPr/>
          </p:nvGrpSpPr>
          <p:grpSpPr>
            <a:xfrm>
              <a:off x="0" y="-86178"/>
              <a:ext cx="1141924" cy="564125"/>
              <a:chOff x="0" y="-28575"/>
              <a:chExt cx="378639" cy="187053"/>
            </a:xfrm>
          </p:grpSpPr>
          <p:sp>
            <p:nvSpPr>
              <p:cNvPr id="182" name="Google Shape;182;p13"/>
              <p:cNvSpPr/>
              <p:nvPr/>
            </p:nvSpPr>
            <p:spPr>
              <a:xfrm>
                <a:off x="0" y="0"/>
                <a:ext cx="378639" cy="158478"/>
              </a:xfrm>
              <a:custGeom>
                <a:avLst/>
                <a:gdLst/>
                <a:ahLst/>
                <a:cxnLst/>
                <a:rect l="l" t="t" r="r" b="b"/>
                <a:pathLst>
                  <a:path w="378639" h="158478" extrusionOk="0">
                    <a:moveTo>
                      <a:pt x="0" y="0"/>
                    </a:moveTo>
                    <a:lnTo>
                      <a:pt x="378639" y="0"/>
                    </a:lnTo>
                    <a:lnTo>
                      <a:pt x="378639" y="158478"/>
                    </a:lnTo>
                    <a:lnTo>
                      <a:pt x="0" y="158478"/>
                    </a:lnTo>
                    <a:close/>
                  </a:path>
                </a:pathLst>
              </a:custGeom>
              <a:solidFill>
                <a:srgbClr val="050A30"/>
              </a:solidFill>
              <a:ln>
                <a:noFill/>
              </a:ln>
            </p:spPr>
          </p:sp>
          <p:sp>
            <p:nvSpPr>
              <p:cNvPr id="183" name="Google Shape;183;p13"/>
              <p:cNvSpPr txBox="1"/>
              <p:nvPr/>
            </p:nvSpPr>
            <p:spPr>
              <a:xfrm>
                <a:off x="0" y="-28575"/>
                <a:ext cx="378639" cy="187053"/>
              </a:xfrm>
              <a:prstGeom prst="rect">
                <a:avLst/>
              </a:prstGeom>
              <a:noFill/>
              <a:ln>
                <a:noFill/>
              </a:ln>
            </p:spPr>
            <p:txBody>
              <a:bodyPr spcFirstLastPara="1" wrap="square" lIns="50800" tIns="50800" rIns="50800" bIns="50800" anchor="ctr" anchorCtr="0">
                <a:noAutofit/>
              </a:bodyPr>
              <a:lstStyle/>
              <a:p>
                <a:pPr marL="0" marR="0" lvl="0" indent="0" algn="ctr"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4" name="Google Shape;184;p13"/>
            <p:cNvGrpSpPr/>
            <p:nvPr/>
          </p:nvGrpSpPr>
          <p:grpSpPr>
            <a:xfrm>
              <a:off x="4803324" y="337565"/>
              <a:ext cx="1141924" cy="615269"/>
              <a:chOff x="0" y="-28575"/>
              <a:chExt cx="378639" cy="204011"/>
            </a:xfrm>
          </p:grpSpPr>
          <p:sp>
            <p:nvSpPr>
              <p:cNvPr id="185" name="Google Shape;185;p13"/>
              <p:cNvSpPr/>
              <p:nvPr/>
            </p:nvSpPr>
            <p:spPr>
              <a:xfrm>
                <a:off x="0" y="0"/>
                <a:ext cx="378639" cy="175436"/>
              </a:xfrm>
              <a:custGeom>
                <a:avLst/>
                <a:gdLst/>
                <a:ahLst/>
                <a:cxnLst/>
                <a:rect l="l" t="t" r="r" b="b"/>
                <a:pathLst>
                  <a:path w="378639" h="175436" extrusionOk="0">
                    <a:moveTo>
                      <a:pt x="0" y="0"/>
                    </a:moveTo>
                    <a:lnTo>
                      <a:pt x="378639" y="0"/>
                    </a:lnTo>
                    <a:lnTo>
                      <a:pt x="378639" y="175436"/>
                    </a:lnTo>
                    <a:lnTo>
                      <a:pt x="0" y="175436"/>
                    </a:lnTo>
                    <a:close/>
                  </a:path>
                </a:pathLst>
              </a:custGeom>
              <a:solidFill>
                <a:srgbClr val="050A30"/>
              </a:solidFill>
              <a:ln>
                <a:noFill/>
              </a:ln>
            </p:spPr>
          </p:sp>
          <p:sp>
            <p:nvSpPr>
              <p:cNvPr id="186" name="Google Shape;186;p13"/>
              <p:cNvSpPr txBox="1"/>
              <p:nvPr/>
            </p:nvSpPr>
            <p:spPr>
              <a:xfrm>
                <a:off x="0" y="-28575"/>
                <a:ext cx="378639" cy="204011"/>
              </a:xfrm>
              <a:prstGeom prst="rect">
                <a:avLst/>
              </a:prstGeom>
              <a:noFill/>
              <a:ln>
                <a:noFill/>
              </a:ln>
            </p:spPr>
            <p:txBody>
              <a:bodyPr spcFirstLastPara="1" wrap="square" lIns="50800" tIns="50800" rIns="50800" bIns="50800" anchor="ctr" anchorCtr="0">
                <a:noAutofit/>
              </a:bodyPr>
              <a:lstStyle/>
              <a:p>
                <a:pPr marL="0" marR="0" lvl="0" indent="0" algn="ctr" rtl="0">
                  <a:lnSpc>
                    <a:spcPct val="103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87" name="Google Shape;187;p13"/>
          <p:cNvSpPr txBox="1"/>
          <p:nvPr/>
        </p:nvSpPr>
        <p:spPr>
          <a:xfrm>
            <a:off x="944378" y="4709386"/>
            <a:ext cx="4240800" cy="505200"/>
          </a:xfrm>
          <a:prstGeom prst="rect">
            <a:avLst/>
          </a:prstGeom>
          <a:noFill/>
          <a:ln>
            <a:noFill/>
          </a:ln>
        </p:spPr>
        <p:txBody>
          <a:bodyPr spcFirstLastPara="1" wrap="square" lIns="0" tIns="0" rIns="0" bIns="0" anchor="t" anchorCtr="0">
            <a:spAutoFit/>
          </a:bodyPr>
          <a:lstStyle/>
          <a:p>
            <a:pPr marL="0" marR="0" lvl="0" indent="0" algn="ctr" rtl="0">
              <a:lnSpc>
                <a:spcPct val="139993"/>
              </a:lnSpc>
              <a:spcBef>
                <a:spcPts val="0"/>
              </a:spcBef>
              <a:spcAft>
                <a:spcPts val="0"/>
              </a:spcAft>
              <a:buNone/>
            </a:pPr>
            <a:r>
              <a:rPr lang="en-US" sz="2983" b="0" i="0" u="none" strike="noStrike" cap="none" dirty="0">
                <a:solidFill>
                  <a:srgbClr val="FFFFFF"/>
                </a:solidFill>
                <a:latin typeface="Arial"/>
                <a:ea typeface="Arial"/>
                <a:cs typeface="Arial"/>
                <a:sym typeface="Arial"/>
              </a:rPr>
              <a:t>INTRODUCTION</a:t>
            </a:r>
            <a:endParaRPr dirty="0"/>
          </a:p>
        </p:txBody>
      </p:sp>
      <p:pic>
        <p:nvPicPr>
          <p:cNvPr id="188" name="Google Shape;188;p13"/>
          <p:cNvPicPr preferRelativeResize="0"/>
          <p:nvPr/>
        </p:nvPicPr>
        <p:blipFill rotWithShape="1">
          <a:blip r:embed="rId5">
            <a:alphaModFix/>
          </a:blip>
          <a:srcRect/>
          <a:stretch/>
        </p:blipFill>
        <p:spPr>
          <a:xfrm>
            <a:off x="2029391" y="751243"/>
            <a:ext cx="1893461" cy="1895471"/>
          </a:xfrm>
          <a:prstGeom prst="rect">
            <a:avLst/>
          </a:prstGeom>
          <a:noFill/>
          <a:ln>
            <a:noFill/>
          </a:ln>
        </p:spPr>
      </p:pic>
      <p:pic>
        <p:nvPicPr>
          <p:cNvPr id="190" name="Google Shape;190;p13" title="500px-ATLAS_TRT.jpg"/>
          <p:cNvPicPr preferRelativeResize="0"/>
          <p:nvPr/>
        </p:nvPicPr>
        <p:blipFill rotWithShape="1">
          <a:blip r:embed="rId6">
            <a:alphaModFix/>
          </a:blip>
          <a:srcRect t="10673" b="10673"/>
          <a:stretch/>
        </p:blipFill>
        <p:spPr>
          <a:xfrm>
            <a:off x="885445" y="8384696"/>
            <a:ext cx="5450145" cy="3341552"/>
          </a:xfrm>
          <a:prstGeom prst="rect">
            <a:avLst/>
          </a:prstGeom>
          <a:noFill/>
          <a:ln>
            <a:noFill/>
          </a:ln>
        </p:spPr>
      </p:pic>
      <p:pic>
        <p:nvPicPr>
          <p:cNvPr id="191" name="Google Shape;191;p13" title="Hermetic.png"/>
          <p:cNvPicPr preferRelativeResize="0"/>
          <p:nvPr/>
        </p:nvPicPr>
        <p:blipFill>
          <a:blip r:embed="rId7">
            <a:alphaModFix/>
          </a:blip>
          <a:stretch>
            <a:fillRect/>
          </a:stretch>
        </p:blipFill>
        <p:spPr>
          <a:xfrm>
            <a:off x="7794570" y="16316241"/>
            <a:ext cx="4202302" cy="3845309"/>
          </a:xfrm>
          <a:prstGeom prst="rect">
            <a:avLst/>
          </a:prstGeom>
          <a:solidFill>
            <a:schemeClr val="lt1">
              <a:alpha val="69800"/>
            </a:schemeClr>
          </a:solidFill>
          <a:ln>
            <a:noFill/>
          </a:ln>
        </p:spPr>
      </p:pic>
      <p:pic>
        <p:nvPicPr>
          <p:cNvPr id="192" name="Google Shape;192;p13" title="Thr-as-a-function-of-r-for-charged-particles-with-p-T-4-GeV-in-four-p-jet-T.png"/>
          <p:cNvPicPr preferRelativeResize="0"/>
          <p:nvPr/>
        </p:nvPicPr>
        <p:blipFill>
          <a:blip r:embed="rId8">
            <a:alphaModFix/>
          </a:blip>
          <a:stretch>
            <a:fillRect/>
          </a:stretch>
        </p:blipFill>
        <p:spPr>
          <a:xfrm>
            <a:off x="7771693" y="11901669"/>
            <a:ext cx="5790704" cy="4121662"/>
          </a:xfrm>
          <a:prstGeom prst="rect">
            <a:avLst/>
          </a:prstGeom>
          <a:noFill/>
          <a:ln>
            <a:noFill/>
          </a:ln>
        </p:spPr>
      </p:pic>
      <p:sp>
        <p:nvSpPr>
          <p:cNvPr id="156" name="TextBox 155">
            <a:extLst>
              <a:ext uri="{FF2B5EF4-FFF2-40B4-BE49-F238E27FC236}">
                <a16:creationId xmlns:a16="http://schemas.microsoft.com/office/drawing/2014/main" id="{F807D498-7F0C-D949-B801-370660C5644A}"/>
              </a:ext>
            </a:extLst>
          </p:cNvPr>
          <p:cNvSpPr txBox="1"/>
          <p:nvPr/>
        </p:nvSpPr>
        <p:spPr>
          <a:xfrm>
            <a:off x="7795867" y="10066640"/>
            <a:ext cx="5982183" cy="1015663"/>
          </a:xfrm>
          <a:prstGeom prst="rect">
            <a:avLst/>
          </a:prstGeom>
          <a:noFill/>
        </p:spPr>
        <p:txBody>
          <a:bodyPr wrap="square">
            <a:spAutoFit/>
          </a:bodyPr>
          <a:lstStyle/>
          <a:p>
            <a:r>
              <a:rPr lang="en-US" sz="2000" dirty="0"/>
              <a:t>During the research, we learned the circuit diagrams of the HEP detectors and understood how they detect particles.</a:t>
            </a:r>
            <a:endParaRPr lang="ru-RU" sz="20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347</Words>
  <Application>Microsoft Macintosh PowerPoint</Application>
  <PresentationFormat>Произвольный</PresentationFormat>
  <Paragraphs>23</Paragraphs>
  <Slides>1</Slides>
  <Notes>1</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vt:i4>
      </vt:variant>
    </vt:vector>
  </HeadingPairs>
  <TitlesOfParts>
    <vt:vector size="4" baseType="lpstr">
      <vt:lpstr>Arial</vt:lpstr>
      <vt:lpstr>Calibri</vt:lpstr>
      <vt:lpstr>Office Theme</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Microsoft Office User</cp:lastModifiedBy>
  <cp:revision>7</cp:revision>
  <dcterms:modified xsi:type="dcterms:W3CDTF">2025-11-03T09:42:38Z</dcterms:modified>
</cp:coreProperties>
</file>